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6" r:id="rId12"/>
    <p:sldId id="270" r:id="rId13"/>
    <p:sldId id="271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77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TEAM K 2</a:t>
            </a:r>
            <a:r>
              <a:rPr lang="en-US" sz="1400" b="1" kern="0" spc="100" baseline="300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nd</a:t>
            </a:r>
            <a:r>
              <a:rPr lang="en-US" sz="1400" b="1" kern="0" spc="1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sprint(2026.09.10~2026.09.16)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557904"/>
            <a:ext cx="10883392" cy="1305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소상공인 채용난 해소를 위한</a:t>
            </a:r>
            <a:endParaRPr lang="en-US" sz="4200" dirty="0"/>
          </a:p>
          <a:p>
            <a:pPr marL="0" indent="0" algn="l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추천채용 및 HR 자동화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4015758"/>
            <a:ext cx="10883392" cy="32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380"/>
              </a:lnSpc>
            </a:pPr>
            <a:r>
              <a:rPr lang="ko-KR" altLang="en-US" sz="1600" dirty="0">
                <a:solidFill>
                  <a:schemeClr val="bg1"/>
                </a:solidFill>
              </a:rPr>
              <a:t>급할 때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적합한 사람을 바로 </a:t>
            </a:r>
            <a:r>
              <a:rPr lang="ko-KR" altLang="en-US" sz="1600" dirty="0" err="1">
                <a:solidFill>
                  <a:schemeClr val="bg1"/>
                </a:solidFill>
              </a:rPr>
              <a:t>추천받는</a:t>
            </a:r>
            <a:r>
              <a:rPr lang="ko-KR" altLang="en-US" sz="1600" dirty="0">
                <a:solidFill>
                  <a:schemeClr val="bg1"/>
                </a:solidFill>
              </a:rPr>
              <a:t> 채용 서비스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5814131"/>
            <a:ext cx="94967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2026. 09. 17</a:t>
            </a:r>
            <a:endParaRPr lang="en-US" sz="13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404AB25-5291-F7B6-4F4E-EE42D8BDF874}"/>
              </a:ext>
            </a:extLst>
          </p:cNvPr>
          <p:cNvSpPr/>
          <p:nvPr/>
        </p:nvSpPr>
        <p:spPr>
          <a:xfrm>
            <a:off x="1914878" y="5814131"/>
            <a:ext cx="949678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</a:rPr>
              <a:t>Team K </a:t>
            </a:r>
            <a:r>
              <a:rPr lang="ko-KR" altLang="en-US" sz="13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</a:rPr>
              <a:t>이혜원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Company &amp; Service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99307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위솝, 그리고 샵솔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36020"/>
            <a:ext cx="5156200" cy="1384829"/>
          </a:xfrm>
          <a:prstGeom prst="roundRect">
            <a:avLst>
              <a:gd name="adj" fmla="val 11005"/>
            </a:avLst>
          </a:prstGeom>
          <a:solidFill>
            <a:srgbClr val="F4F7F6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90020"/>
            <a:ext cx="4787646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35389"/>
            <a:ext cx="4787646" cy="55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본사와 소상공인 매장이 쓰는 운영관리 솔루션을 만드는 회사입니다.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23000" y="1736020"/>
            <a:ext cx="5156200" cy="1384829"/>
          </a:xfrm>
          <a:prstGeom prst="roundRect">
            <a:avLst>
              <a:gd name="adj" fmla="val 11005"/>
            </a:avLst>
          </a:prstGeom>
          <a:solidFill>
            <a:srgbClr val="F4F7F6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0" y="1990020"/>
            <a:ext cx="4787646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샵솔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0" y="2335389"/>
            <a:ext cx="4787646" cy="55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사장님이 직원 출퇴근·급여 계산·유통기한 관리 같은 매장 운영을 앱 하나로 처리하게 해주는 소상공인 매장관리 서비스입니다.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2800" y="3425649"/>
            <a:ext cx="10566400" cy="1089642"/>
          </a:xfrm>
          <a:prstGeom prst="roundRect">
            <a:avLst>
              <a:gd name="adj" fmla="val 13986"/>
            </a:avLst>
          </a:prstGeom>
          <a:solidFill>
            <a:srgbClr val="245251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679649"/>
            <a:ext cx="1036015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저희가 만드는 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3956491"/>
            <a:ext cx="1036015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급하게 사람이 필요한 샵솔 등록매장에, 그 일에 맞는 사람을 바로 연결해줍니다.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58"/>
            <a:ext cx="150680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K · 위솝 × 샵솔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09955" y="6238258"/>
            <a:ext cx="22004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9354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샵솔 소개</a:t>
            </a:r>
            <a:endParaRPr lang="en-US" sz="1300" dirty="0"/>
          </a:p>
        </p:txBody>
      </p:sp>
      <p:pic>
        <p:nvPicPr>
          <p:cNvPr id="3" name="Image 0" descr="위솝의 샵솔 소개.PNG"/>
          <p:cNvPicPr>
            <a:picLocks noChangeAspect="1"/>
          </p:cNvPicPr>
          <p:nvPr/>
        </p:nvPicPr>
        <p:blipFill>
          <a:blip r:embed="rId3"/>
          <a:srcRect t="3481" b="3481"/>
          <a:stretch/>
        </p:blipFill>
        <p:spPr>
          <a:xfrm>
            <a:off x="1859359" y="1255757"/>
            <a:ext cx="8473281" cy="43464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924013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위솝의 강점</a:t>
            </a:r>
            <a:endParaRPr lang="en-US" sz="1300" dirty="0"/>
          </a:p>
        </p:txBody>
      </p:sp>
      <p:pic>
        <p:nvPicPr>
          <p:cNvPr id="3" name="Image 0" descr="위솝 비즈니스 모델 강점 - 프랜솔 도입시 가맹점과 직원이 함께 유입되는 구조"/>
          <p:cNvPicPr>
            <a:picLocks noChangeAspect="1"/>
          </p:cNvPicPr>
          <p:nvPr/>
        </p:nvPicPr>
        <p:blipFill>
          <a:blip r:embed="rId3"/>
          <a:srcRect l="-5640" r="-5640"/>
          <a:stretch/>
        </p:blipFill>
        <p:spPr>
          <a:xfrm>
            <a:off x="1016000" y="1016000"/>
            <a:ext cx="10160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Long-term Goal &amp; Sprint Question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2800" y="1170871"/>
            <a:ext cx="10566400" cy="1255360"/>
          </a:xfrm>
          <a:prstGeom prst="roundRect">
            <a:avLst>
              <a:gd name="adj" fmla="val 12140"/>
            </a:avLst>
          </a:prstGeom>
          <a:solidFill>
            <a:srgbClr val="245251"/>
          </a:solidFill>
          <a:ln/>
        </p:spPr>
      </p:sp>
      <p:sp>
        <p:nvSpPr>
          <p:cNvPr id="4" name="Text 2"/>
          <p:cNvSpPr/>
          <p:nvPr/>
        </p:nvSpPr>
        <p:spPr>
          <a:xfrm>
            <a:off x="1092200" y="1450271"/>
            <a:ext cx="1030782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장기목표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2200" y="1752513"/>
            <a:ext cx="10307828" cy="419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매장이 급할 때, 믿을 수 있는 사람을 바로 찾을 수 있는 채용 플랫폼이 된다.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19150" y="2661180"/>
            <a:ext cx="10553700" cy="1230930"/>
          </a:xfrm>
          <a:prstGeom prst="roundRect">
            <a:avLst>
              <a:gd name="adj" fmla="val 11865"/>
            </a:avLst>
          </a:prstGeom>
          <a:solidFill>
            <a:srgbClr val="F4F7F6"/>
          </a:solidFill>
          <a:ln w="12700">
            <a:solidFill>
              <a:srgbClr val="2452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3489" y="2945519"/>
            <a:ext cx="1028457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핵심질문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3489" y="3247761"/>
            <a:ext cx="10284573" cy="38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35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매장이 급하게 사람이 필요할 때, 믿을 만한 사람을 빠르게 찾을 수 있다고 느낄까?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12800" y="4127060"/>
            <a:ext cx="636058" cy="365742"/>
          </a:xfrm>
          <a:prstGeom prst="roundRect">
            <a:avLst>
              <a:gd name="adj" fmla="val 50000"/>
            </a:avLst>
          </a:prstGeom>
          <a:solidFill>
            <a:srgbClr val="E4EDEB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4203260"/>
            <a:ext cx="331258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75858" y="4185444"/>
            <a:ext cx="3784315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인력 공백을 겪는 소상공인 매장 사장님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58"/>
            <a:ext cx="150680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K · </a:t>
            </a:r>
            <a:r>
              <a:rPr lang="en-US" sz="1200" dirty="0" err="1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</a:t>
            </a: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샵솔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209955" y="6238258"/>
            <a:ext cx="22004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2745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Keyword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532416"/>
            <a:ext cx="10883392" cy="580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스팟워크 (Spot Work)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12800" y="3315934"/>
            <a:ext cx="10883392" cy="756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하루 2~4시간이나 단 하루 등, 필요할 때 즉시 일하고 보수를 받는</a:t>
            </a:r>
            <a:endParaRPr lang="en-US" sz="1800" dirty="0"/>
          </a:p>
          <a:p>
            <a:pPr marL="0" indent="0" algn="l">
              <a:lnSpc>
                <a:spcPts val="288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초단기 근무 형태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276021"/>
            <a:ext cx="10883392" cy="229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8A9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</a:t>
            </a:r>
            <a:r>
              <a:rPr lang="ko-KR" altLang="en-US" sz="1150" dirty="0">
                <a:solidFill>
                  <a:srgbClr val="8A938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한경용어사전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2800" y="6238258"/>
            <a:ext cx="150680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K · </a:t>
            </a:r>
            <a:r>
              <a:rPr lang="en-US" sz="1200" dirty="0" err="1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</a:t>
            </a: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샵솔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09955" y="6238258"/>
            <a:ext cx="22004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09600"/>
            <a:ext cx="866599" cy="365742"/>
          </a:xfrm>
          <a:prstGeom prst="roundRect">
            <a:avLst>
              <a:gd name="adj" fmla="val 50000"/>
            </a:avLst>
          </a:prstGeom>
          <a:solidFill>
            <a:srgbClr val="245251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56179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31799" y="624505"/>
            <a:ext cx="3704012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근무종료 1시간 내 즉시지급형</a:t>
            </a:r>
            <a:endParaRPr lang="en-US" sz="2300" dirty="0"/>
          </a:p>
        </p:txBody>
      </p:sp>
      <p:pic>
        <p:nvPicPr>
          <p:cNvPr id="5" name="Image 0" descr="일감 목록 화면"/>
          <p:cNvPicPr>
            <a:picLocks noChangeAspect="1"/>
          </p:cNvPicPr>
          <p:nvPr/>
        </p:nvPicPr>
        <p:blipFill>
          <a:blip r:embed="rId3"/>
          <a:srcRect t="-258" b="-258"/>
          <a:stretch/>
        </p:blipFill>
        <p:spPr>
          <a:xfrm>
            <a:off x="1993900" y="1191242"/>
            <a:ext cx="1879600" cy="3803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875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pic>
        <p:nvPicPr>
          <p:cNvPr id="7" name="Image 1" descr="일감 상세 화면"/>
          <p:cNvPicPr>
            <a:picLocks noChangeAspect="1"/>
          </p:cNvPicPr>
          <p:nvPr/>
        </p:nvPicPr>
        <p:blipFill>
          <a:blip r:embed="rId4"/>
          <a:srcRect t="-258" b="-258"/>
          <a:stretch/>
        </p:blipFill>
        <p:spPr>
          <a:xfrm>
            <a:off x="4102100" y="1191242"/>
            <a:ext cx="1879600" cy="38036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0957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pic>
        <p:nvPicPr>
          <p:cNvPr id="9" name="Image 2" descr="지원 완료 화면"/>
          <p:cNvPicPr>
            <a:picLocks noChangeAspect="1"/>
          </p:cNvPicPr>
          <p:nvPr/>
        </p:nvPicPr>
        <p:blipFill>
          <a:blip r:embed="rId5"/>
          <a:srcRect t="-258" b="-258"/>
          <a:stretch/>
        </p:blipFill>
        <p:spPr>
          <a:xfrm>
            <a:off x="6210300" y="1191242"/>
            <a:ext cx="1879600" cy="38036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039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pic>
        <p:nvPicPr>
          <p:cNvPr id="11" name="Image 3" descr="채용 확정 화면"/>
          <p:cNvPicPr>
            <a:picLocks noChangeAspect="1"/>
          </p:cNvPicPr>
          <p:nvPr/>
        </p:nvPicPr>
        <p:blipFill>
          <a:blip r:embed="rId6"/>
          <a:srcRect t="-258" b="-258"/>
          <a:stretch/>
        </p:blipFill>
        <p:spPr>
          <a:xfrm>
            <a:off x="8318500" y="1191242"/>
            <a:ext cx="1879600" cy="38036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3121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952625" y="5210792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일감 목록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060825" y="5210792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일감 상세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169025" y="5210792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지원 완료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277225" y="5210792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채용 확정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12800" y="6238258"/>
            <a:ext cx="150680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K · </a:t>
            </a:r>
            <a:r>
              <a:rPr lang="en-US" sz="1200" dirty="0" err="1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</a:t>
            </a: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샵솔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209955" y="6238258"/>
            <a:ext cx="22004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609600"/>
            <a:ext cx="866599" cy="365742"/>
          </a:xfrm>
          <a:prstGeom prst="roundRect">
            <a:avLst>
              <a:gd name="adj" fmla="val 50000"/>
            </a:avLst>
          </a:prstGeom>
          <a:solidFill>
            <a:srgbClr val="E4EDEB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56179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31799" y="624505"/>
            <a:ext cx="3526420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지급일이 명확한 일반 정산형</a:t>
            </a:r>
            <a:endParaRPr lang="en-US" sz="2300" dirty="0"/>
          </a:p>
        </p:txBody>
      </p:sp>
      <p:pic>
        <p:nvPicPr>
          <p:cNvPr id="5" name="Image 0" descr="일감 목록 화면"/>
          <p:cNvPicPr>
            <a:picLocks noChangeAspect="1"/>
          </p:cNvPicPr>
          <p:nvPr/>
        </p:nvPicPr>
        <p:blipFill>
          <a:blip r:embed="rId3"/>
          <a:srcRect t="-258" b="-258"/>
          <a:stretch/>
        </p:blipFill>
        <p:spPr>
          <a:xfrm>
            <a:off x="1993900" y="1191242"/>
            <a:ext cx="1879600" cy="3803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875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pic>
        <p:nvPicPr>
          <p:cNvPr id="7" name="Image 1" descr="일감 상세 화면"/>
          <p:cNvPicPr>
            <a:picLocks noChangeAspect="1"/>
          </p:cNvPicPr>
          <p:nvPr/>
        </p:nvPicPr>
        <p:blipFill>
          <a:blip r:embed="rId4"/>
          <a:srcRect t="-258" b="-258"/>
          <a:stretch/>
        </p:blipFill>
        <p:spPr>
          <a:xfrm>
            <a:off x="4102100" y="1191242"/>
            <a:ext cx="1879600" cy="38036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0957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pic>
        <p:nvPicPr>
          <p:cNvPr id="9" name="Image 2" descr="지원 완료 화면"/>
          <p:cNvPicPr>
            <a:picLocks noChangeAspect="1"/>
          </p:cNvPicPr>
          <p:nvPr/>
        </p:nvPicPr>
        <p:blipFill>
          <a:blip r:embed="rId5"/>
          <a:srcRect t="-258" b="-258"/>
          <a:stretch/>
        </p:blipFill>
        <p:spPr>
          <a:xfrm>
            <a:off x="6210300" y="1191242"/>
            <a:ext cx="1879600" cy="38036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039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pic>
        <p:nvPicPr>
          <p:cNvPr id="11" name="Image 3" descr="채용 확정 화면"/>
          <p:cNvPicPr>
            <a:picLocks noChangeAspect="1"/>
          </p:cNvPicPr>
          <p:nvPr/>
        </p:nvPicPr>
        <p:blipFill>
          <a:blip r:embed="rId6"/>
          <a:srcRect t="-258" b="-258"/>
          <a:stretch/>
        </p:blipFill>
        <p:spPr>
          <a:xfrm>
            <a:off x="8318500" y="1191242"/>
            <a:ext cx="1879600" cy="38036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312150" y="1184892"/>
            <a:ext cx="1892300" cy="3816350"/>
          </a:xfrm>
          <a:prstGeom prst="rect">
            <a:avLst/>
          </a:prstGeom>
          <a:noFill/>
          <a:ln w="12700">
            <a:solidFill>
              <a:srgbClr val="E4EDEB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1952625" y="5210795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일감 목록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060825" y="5210795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일감 상세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169025" y="5210795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지원 완료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277225" y="5210795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3A3A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채용 확정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12800" y="6238261"/>
            <a:ext cx="150680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K · </a:t>
            </a:r>
            <a:r>
              <a:rPr lang="en-US" sz="1200" dirty="0" err="1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위솝</a:t>
            </a: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샵솔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209955" y="6238261"/>
            <a:ext cx="22004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 err="1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UT로</a:t>
            </a:r>
            <a:r>
              <a:rPr lang="en-US" sz="1300" b="1" kern="0" spc="100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검증한 문제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실사용자</a:t>
            </a:r>
            <a:r>
              <a:rPr lang="en-US" sz="2600" b="1" dirty="0">
                <a:solidFill>
                  <a:srgbClr val="2452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12명에게 직접 확인했습니다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 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 ·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3명 · 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N잡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관심 낮은 정기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알바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이용자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알바몬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 · 과거 N잡 </a:t>
            </a:r>
            <a:r>
              <a:rPr 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경험자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 ·, N</a:t>
            </a:r>
            <a:r>
              <a:rPr lang="ko-KR" altLang="en-US" sz="120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관심이 낮은 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ko-KR" alt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</a:t>
            </a:r>
            <a:r>
              <a:rPr lang="en-US" altLang="ko-KR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18명을 대상으로 진행했습니다.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642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인터뷰 </a:t>
            </a:r>
            <a:r>
              <a:rPr lang="en-US" sz="1050" i="1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응답자는</a:t>
            </a:r>
            <a:r>
              <a:rPr lang="en-US" sz="10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19명이며, 이 중 유의미한 응답을 준 9명을 기준으로 정리했습니다)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7F7F3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12848"/>
            <a:ext cx="1051560" cy="429768"/>
          </a:xfrm>
          <a:prstGeom prst="roundRect">
            <a:avLst>
              <a:gd name="adj" fmla="val 21277"/>
            </a:avLst>
          </a:prstGeom>
          <a:solidFill>
            <a:srgbClr val="3EA89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1284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 9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1579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 종료 시간 명확화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3969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급구·당근 경험자 8명 모두 지원 의사에 영향받는 요소로 언급했고, 정기 알바 근무자에게도 영향을 주는 요소였습니다.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E7F7F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990088"/>
            <a:ext cx="1051560" cy="429768"/>
          </a:xfrm>
          <a:prstGeom prst="roundRect">
            <a:avLst>
              <a:gd name="adj" fmla="val 21277"/>
            </a:avLst>
          </a:prstGeom>
          <a:solidFill>
            <a:srgbClr val="3EA8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90088"/>
            <a:ext cx="1051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2935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근무종료 1시간 후 급여지급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91693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급구·당근 경험자 8명은 지원 결정 요소로 꼽았습니다. 다만 고정 근무 형태인 정기 알바 이용자 1명은 관심이 낮았습니다.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2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8221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2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급구와 비슷하다는 인상은 아니었습니다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33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대상 11명 중 10명이 '유사하지 않다'고 답했고(색감이 급구의 파란색과 다름 · 리스트형 UI는 일반적 형태로 인식), 1명만 '전체적으로 비슷하다'는 </a:t>
            </a:r>
            <a:r>
              <a:rPr lang="en-US" sz="115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인상을</a:t>
            </a:r>
            <a:r>
              <a:rPr lang="en-US" sz="115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받았습니다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유의할 점: </a:t>
            </a:r>
            <a:r>
              <a:rPr lang="en-US" sz="1150" i="1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급구</a:t>
            </a:r>
            <a:r>
              <a:rPr lang="ko-KR" alt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</a:t>
            </a: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1명은 화면이 다소 복잡하다는 의견을, </a:t>
            </a:r>
            <a:r>
              <a:rPr lang="en-US" sz="1150" i="1" dirty="0" err="1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당근</a:t>
            </a:r>
            <a:r>
              <a:rPr lang="ko-KR" alt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러</a:t>
            </a:r>
            <a:r>
              <a:rPr lang="en-US" sz="1150" i="1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1명은 실제 지원 여부는 서비스 인지도에 달려 있다는 의견을 주셨습니다.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2452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그래도 구분을 더 확실히 하기 위해, 당일 미지급 일감도 지급예정일을 반드시 명시하고 미준수 5회 누적 시 일감 등록을 제한하는 정책을 제안 범위에 포함했습니다.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812B4A67-1B80-D7E1-EEDA-322691E0A06C}"/>
              </a:ext>
            </a:extLst>
          </p:cNvPr>
          <p:cNvSpPr/>
          <p:nvPr/>
        </p:nvSpPr>
        <p:spPr>
          <a:xfrm>
            <a:off x="654304" y="82497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ko-KR" alt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결론</a:t>
            </a:r>
            <a:endParaRPr lang="en-US" sz="13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AAC6E916-92CE-FCB8-B679-A6BF04FFFB20}"/>
              </a:ext>
            </a:extLst>
          </p:cNvPr>
          <p:cNvSpPr/>
          <p:nvPr/>
        </p:nvSpPr>
        <p:spPr>
          <a:xfrm>
            <a:off x="654304" y="1424922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(1)</a:t>
            </a:r>
            <a:r>
              <a:rPr lang="ko-KR" alt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 이번 스프린트에서 확인된 것</a:t>
            </a:r>
            <a:r>
              <a:rPr lang="en-US" altLang="ko-KR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(Answered)</a:t>
            </a:r>
            <a:endParaRPr lang="en-US" sz="38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D23D031B-9A1C-15D7-693C-C9A6E4F8009A}"/>
              </a:ext>
            </a:extLst>
          </p:cNvPr>
          <p:cNvSpPr/>
          <p:nvPr/>
        </p:nvSpPr>
        <p:spPr>
          <a:xfrm>
            <a:off x="654304" y="2009606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 err="1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위솝의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 강점을 최대한 살려서 기획하기</a:t>
            </a:r>
            <a:endParaRPr lang="en-US" sz="20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15444C50-4E2E-9CA7-BDD4-EB56410B31AF}"/>
              </a:ext>
            </a:extLst>
          </p:cNvPr>
          <p:cNvSpPr/>
          <p:nvPr/>
        </p:nvSpPr>
        <p:spPr>
          <a:xfrm>
            <a:off x="654304" y="435575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세부 기획에 포함시킬 가중치</a:t>
            </a:r>
            <a:endParaRPr lang="en-US" sz="20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EAE72B0-3220-FAE9-226A-5D8DADAEBDE5}"/>
              </a:ext>
            </a:extLst>
          </p:cNvPr>
          <p:cNvSpPr/>
          <p:nvPr/>
        </p:nvSpPr>
        <p:spPr>
          <a:xfrm>
            <a:off x="654304" y="3557234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(2) </a:t>
            </a:r>
            <a:r>
              <a:rPr lang="ko-KR" alt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아직 검증 중인 질문</a:t>
            </a:r>
            <a:r>
              <a:rPr lang="en-US" altLang="ko-KR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(Next step)</a:t>
            </a:r>
            <a:endParaRPr lang="en-US" sz="38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0F75D5CF-A374-0CD8-7B39-4C05F53A2CC9}"/>
              </a:ext>
            </a:extLst>
          </p:cNvPr>
          <p:cNvSpPr/>
          <p:nvPr/>
        </p:nvSpPr>
        <p:spPr>
          <a:xfrm>
            <a:off x="654304" y="2679887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세부기획이 가장 중요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047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A49A7C-2753-90A1-D030-0E63953427F4}"/>
              </a:ext>
            </a:extLst>
          </p:cNvPr>
          <p:cNvSpPr/>
          <p:nvPr/>
        </p:nvSpPr>
        <p:spPr>
          <a:xfrm>
            <a:off x="727075" y="630765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KPT </a:t>
            </a:r>
            <a:r>
              <a:rPr lang="ko-KR" alt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</a:t>
            </a:r>
            <a:endParaRPr lang="en-US" sz="13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5AB8155-8F5F-1D15-E5E6-7CF4C23F2B71}"/>
              </a:ext>
            </a:extLst>
          </p:cNvPr>
          <p:cNvSpPr/>
          <p:nvPr/>
        </p:nvSpPr>
        <p:spPr>
          <a:xfrm>
            <a:off x="654304" y="1317267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KEEP</a:t>
            </a:r>
            <a:endParaRPr lang="en-US" sz="38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E596C7E-3DAD-F2F8-4D8A-CB7AA5FFC5C5}"/>
              </a:ext>
            </a:extLst>
          </p:cNvPr>
          <p:cNvSpPr/>
          <p:nvPr/>
        </p:nvSpPr>
        <p:spPr>
          <a:xfrm>
            <a:off x="530317" y="2356469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전체적인 플로우 방향성</a:t>
            </a:r>
            <a:endParaRPr lang="en-US" sz="20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193E649-473F-B6AF-8B86-20061EC4EAB2}"/>
              </a:ext>
            </a:extLst>
          </p:cNvPr>
          <p:cNvSpPr/>
          <p:nvPr/>
        </p:nvSpPr>
        <p:spPr>
          <a:xfrm>
            <a:off x="530317" y="3139202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어제 </a:t>
            </a:r>
            <a:r>
              <a:rPr lang="ko-KR" altLang="en-US" sz="2000" b="1" kern="0" spc="100" dirty="0" err="1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위솝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 담당자와 함께 논의한 </a:t>
            </a:r>
            <a:r>
              <a:rPr lang="ko-KR" altLang="en-US" sz="2000" b="1" kern="0" spc="100" dirty="0" err="1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킬러컨텐츠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 반영 예정</a:t>
            </a:r>
            <a:r>
              <a:rPr lang="en-US" altLang="ko-KR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(P14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의 </a:t>
            </a:r>
            <a:r>
              <a:rPr lang="en-US" altLang="ko-KR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UT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결과 반영결과</a:t>
            </a:r>
            <a:r>
              <a:rPr lang="en-US" altLang="ko-KR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48711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A6DE-2973-675A-6DF3-7B5F2CEED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9FC429-18AB-1AFF-75ED-1B150A5C3530}"/>
              </a:ext>
            </a:extLst>
          </p:cNvPr>
          <p:cNvSpPr/>
          <p:nvPr/>
        </p:nvSpPr>
        <p:spPr>
          <a:xfrm>
            <a:off x="727075" y="630765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KPT </a:t>
            </a:r>
            <a:r>
              <a:rPr lang="ko-KR" alt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</a:t>
            </a:r>
            <a:endParaRPr lang="en-US" sz="13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F6D3E8-489F-CA3E-FADA-F5553B58B300}"/>
              </a:ext>
            </a:extLst>
          </p:cNvPr>
          <p:cNvSpPr/>
          <p:nvPr/>
        </p:nvSpPr>
        <p:spPr>
          <a:xfrm>
            <a:off x="654304" y="1317267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38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A97918D-E0A0-0D32-2DD0-31B3A3EDF8DC}"/>
              </a:ext>
            </a:extLst>
          </p:cNvPr>
          <p:cNvSpPr/>
          <p:nvPr/>
        </p:nvSpPr>
        <p:spPr>
          <a:xfrm>
            <a:off x="530317" y="2379313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세부기획의 무게 있는 기획 작성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0684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16648-3FBD-68C7-BE67-FE572DC54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973B08-5787-38E8-C6B9-7A87516BE1EA}"/>
              </a:ext>
            </a:extLst>
          </p:cNvPr>
          <p:cNvSpPr/>
          <p:nvPr/>
        </p:nvSpPr>
        <p:spPr>
          <a:xfrm>
            <a:off x="727075" y="630765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KPT </a:t>
            </a:r>
            <a:r>
              <a:rPr lang="ko-KR" altLang="en-US" sz="13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</a:t>
            </a:r>
            <a:endParaRPr lang="en-US" sz="13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2910C01-210A-2505-1B67-C70246A87143}"/>
              </a:ext>
            </a:extLst>
          </p:cNvPr>
          <p:cNvSpPr/>
          <p:nvPr/>
        </p:nvSpPr>
        <p:spPr>
          <a:xfrm>
            <a:off x="654304" y="1317267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38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Try</a:t>
            </a:r>
            <a:endParaRPr lang="en-US" sz="38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62B2E87-7E5B-5EA4-5F62-1F8948490BF5}"/>
              </a:ext>
            </a:extLst>
          </p:cNvPr>
          <p:cNvSpPr/>
          <p:nvPr/>
        </p:nvSpPr>
        <p:spPr>
          <a:xfrm>
            <a:off x="530317" y="2356469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- </a:t>
            </a:r>
            <a:r>
              <a:rPr lang="ko-KR" altLang="en-US" sz="2000" b="1" kern="0" spc="100" dirty="0" err="1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위솝</a:t>
            </a:r>
            <a:r>
              <a:rPr lang="ko-KR" altLang="en-US" sz="2000" b="1" kern="0" spc="100" dirty="0">
                <a:solidFill>
                  <a:srgbClr val="245251"/>
                </a:solidFill>
                <a:latin typeface="Noto Sans KR" pitchFamily="34" charset="0"/>
                <a:ea typeface="Noto Sans KR" pitchFamily="34" charset="-122"/>
              </a:rPr>
              <a:t> 측의 강점을 최대한 살린 세부기획 작성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634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52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96268"/>
            <a:ext cx="10883392" cy="916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 기준은 이번 위솝과의 회의에서 중요하게 언급된 기준들을 바탕으로 세부기획할 예정입니다.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240142"/>
            <a:ext cx="10883392" cy="614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CFE4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급여 지급 방식도 신뢰를 지키는 방향으로 함께 준비 중이며,</a:t>
            </a:r>
            <a:endParaRPr lang="en-US" sz="145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450" dirty="0">
                <a:solidFill>
                  <a:srgbClr val="CFE4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구조는 9월 29일 최종발표에서 상세히 공개합니다.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2800" y="579755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r>
              <a:rPr lang="en-US" sz="1400" dirty="0">
                <a:solidFill>
                  <a:srgbClr val="9FC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Team 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582</Words>
  <Application>Microsoft Office PowerPoint</Application>
  <PresentationFormat>와이드스크린</PresentationFormat>
  <Paragraphs>96</Paragraphs>
  <Slides>14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위솝 x 샵솔 - 스팟워크 매칭 서비스 5분 발표</dc:title>
  <dc:subject>PptxGenJS Presentation</dc:subject>
  <dc:creator>PptxGenJS</dc:creator>
  <cp:lastModifiedBy>Hyewon Lee</cp:lastModifiedBy>
  <cp:revision>3</cp:revision>
  <dcterms:created xsi:type="dcterms:W3CDTF">2026-09-17T03:37:40Z</dcterms:created>
  <dcterms:modified xsi:type="dcterms:W3CDTF">2026-09-17T05:11:12Z</dcterms:modified>
</cp:coreProperties>
</file>