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251"/>
    <a:srgbClr val="FFFFFF"/>
    <a:srgbClr val="567979"/>
    <a:srgbClr val="A6C0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10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56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36576"/>
          </a:xfrm>
          <a:prstGeom prst="rect">
            <a:avLst/>
          </a:prstGeom>
          <a:solidFill>
            <a:srgbClr val="2452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위솝 실무 미팅 제안서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38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근무종료</a:t>
            </a:r>
            <a:r>
              <a:rPr lang="en-US" sz="38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1시간 뒤,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통장에 꽂히는 일감을 잇습니다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E7F7F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611880"/>
            <a:ext cx="6949440" cy="457200"/>
          </a:xfrm>
          <a:prstGeom prst="rect">
            <a:avLst/>
          </a:prstGeom>
          <a:noFill/>
          <a:ln>
            <a:solidFill>
              <a:srgbClr val="A6C0B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679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근무종료 1시간 후 급여지급 일감 × N잡러 매칭</a:t>
            </a:r>
            <a:endParaRPr lang="en-US" b="1" dirty="0">
              <a:solidFill>
                <a:srgbClr val="567979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59" y="4526280"/>
            <a:ext cx="10583793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ko-KR" altLang="en-US" sz="1500" b="1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N잡러와 매장을 잇는 서비스입니다.</a:t>
            </a:r>
            <a:endParaRPr lang="en-US" sz="1500" b="1" dirty="0"/>
          </a:p>
          <a:p>
            <a:pPr>
              <a:lnSpc>
                <a:spcPct val="130000"/>
              </a:lnSpc>
            </a:pPr>
            <a:r>
              <a:rPr lang="ko-KR" altLang="en-US" sz="15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비는 시간에 잠깐 일하고, 근무 종료 즉시 급여를 받거나 하루 근무에 대한 정확한 지급일을 미리 알 수 있는 서비스입니다.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 </a:t>
            </a:r>
            <a:r>
              <a:rPr lang="ko-KR" alt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이혜원</a:t>
            </a: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2026.09.16 실무 미팅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왜 필요한가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언제 근무가 정확히 끝나고</a:t>
            </a:r>
            <a:r>
              <a:rPr lang="en-US" altLang="ko-KR" sz="27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ko-KR" altLang="en-US" sz="27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언제 급여가 들여오는지 알 수 없어 망설입니다</a:t>
            </a:r>
            <a:r>
              <a:rPr lang="en-US" altLang="ko-KR" sz="27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1F2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(Problem)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4472" y="2066699"/>
            <a:ext cx="28656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✖"/>
            </a:pPr>
            <a:r>
              <a:rPr lang="ko-KR" alt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 종료시간 정보가 </a:t>
            </a:r>
            <a:r>
              <a:rPr lang="ko-KR" altLang="en-US" sz="13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예측어려움</a:t>
            </a:r>
            <a:r>
              <a:rPr lang="ko-KR" alt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altLang="ko-KR" sz="1300" dirty="0">
              <a:solidFill>
                <a:srgbClr val="4A4E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✖"/>
            </a:pPr>
            <a:r>
              <a:rPr lang="ko-KR" alt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일감에 대한 지급일자 불명확성</a:t>
            </a:r>
            <a:endParaRPr lang="en-US" altLang="ko-KR" sz="1300" dirty="0">
              <a:solidFill>
                <a:srgbClr val="4A4E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355080" y="1508760"/>
            <a:ext cx="5285232" cy="1828800"/>
          </a:xfrm>
          <a:prstGeom prst="roundRect">
            <a:avLst>
              <a:gd name="adj" fmla="val 4000"/>
            </a:avLst>
          </a:prstGeom>
          <a:solidFill>
            <a:srgbClr val="E7F7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(Solution)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1031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✔"/>
            </a:pPr>
            <a:r>
              <a:rPr lang="en-US" sz="13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 종료 시간을 모든 일감에 </a:t>
            </a:r>
            <a:r>
              <a:rPr lang="en-US" sz="1300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명확히</a:t>
            </a:r>
            <a:r>
              <a:rPr lang="en-US" sz="13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</a:t>
            </a:r>
            <a:endParaRPr lang="en-US" sz="1300" dirty="0">
              <a:solidFill>
                <a:srgbClr val="2452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✔"/>
            </a:pPr>
            <a:r>
              <a:rPr lang="en-US" sz="1300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</a:t>
            </a:r>
            <a:r>
              <a:rPr lang="en-US" sz="13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</a:t>
            </a:r>
            <a:r>
              <a:rPr lang="en-US" sz="13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1시간 후 </a:t>
            </a:r>
            <a:r>
              <a:rPr lang="en-US" sz="1300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급여가</a:t>
            </a:r>
            <a:r>
              <a:rPr lang="en-US" sz="13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들어오</a:t>
            </a:r>
            <a:r>
              <a:rPr lang="ko-KR" altLang="en-US" sz="13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거나</a:t>
            </a:r>
            <a:r>
              <a:rPr lang="en-US" altLang="ko-KR" sz="13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✔"/>
            </a:pPr>
            <a:r>
              <a:rPr lang="ko-KR" altLang="en-US" sz="13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급여가 며칠 </a:t>
            </a:r>
            <a:r>
              <a:rPr lang="ko-KR" altLang="en-US" sz="1300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입급되는지</a:t>
            </a:r>
            <a:r>
              <a:rPr lang="ko-KR" altLang="en-US" sz="13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명확히 밝히는 </a:t>
            </a:r>
            <a:r>
              <a:rPr lang="en-US" sz="13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</a:t>
            </a:r>
            <a:r>
              <a:rPr lang="en-US" sz="13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9167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N잡러가 일감을 고를 때 가장 중요하게 보는 건 '</a:t>
            </a:r>
            <a:r>
              <a:rPr lang="en-US" sz="1600" b="1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</a:t>
            </a:r>
            <a:r>
              <a:rPr lang="en-US" sz="16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근무가</a:t>
            </a:r>
            <a:r>
              <a:rPr lang="en-US" sz="1600" b="1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끝나는지'와</a:t>
            </a:r>
            <a:r>
              <a:rPr lang="en-US" sz="16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'돈이 언제 들어오는지'입니다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4348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altLang="ko-KR" sz="1400" dirty="0"/>
              <a:t>N</a:t>
            </a:r>
            <a:r>
              <a:rPr lang="ko-KR" altLang="en-US" sz="1400" dirty="0" err="1"/>
              <a:t>잡러가</a:t>
            </a:r>
            <a:r>
              <a:rPr lang="ko-KR" altLang="en-US" sz="1400" dirty="0"/>
              <a:t> 일감을 고를 때 가장 중요하게 보는 건 </a:t>
            </a:r>
            <a:r>
              <a:rPr lang="en-US" altLang="ko-KR" sz="1400" dirty="0"/>
              <a:t>＇</a:t>
            </a:r>
            <a:r>
              <a:rPr lang="ko-KR" altLang="en-US" sz="1400" dirty="0"/>
              <a:t>언제 근무가 끝나는지</a:t>
            </a:r>
            <a:r>
              <a:rPr lang="en-US" altLang="ko-KR" sz="1400" dirty="0"/>
              <a:t>'</a:t>
            </a:r>
            <a:r>
              <a:rPr lang="ko-KR" altLang="en-US" sz="1400" dirty="0"/>
              <a:t>와 </a:t>
            </a:r>
            <a:r>
              <a:rPr lang="en-US" altLang="ko-KR" sz="1400" dirty="0"/>
              <a:t>'</a:t>
            </a:r>
            <a:r>
              <a:rPr lang="ko-KR" altLang="en-US" sz="1400" dirty="0"/>
              <a:t>돈이 언제 들어오는지</a:t>
            </a:r>
            <a:r>
              <a:rPr lang="en-US" altLang="ko-KR" sz="1400" dirty="0"/>
              <a:t>'</a:t>
            </a:r>
            <a:r>
              <a:rPr lang="ko-KR" altLang="en-US" sz="1400" dirty="0"/>
              <a:t>입니다</a:t>
            </a:r>
            <a:br>
              <a:rPr lang="ko-KR" altLang="en-US" sz="1400" dirty="0"/>
            </a:br>
            <a:r>
              <a:rPr lang="ko-KR" altLang="en-US" sz="1400" dirty="0"/>
              <a:t>그래서 이번 제안은 근무 종료 시간과 급여 지급 시점을 항상 명확히 보여주는 </a:t>
            </a:r>
            <a:r>
              <a:rPr lang="ko-KR" altLang="en-US" sz="1400" b="1" dirty="0"/>
              <a:t>매칭 </a:t>
            </a:r>
            <a:r>
              <a:rPr lang="en-US" altLang="ko-KR" sz="1400" b="1" dirty="0"/>
              <a:t>UX</a:t>
            </a:r>
            <a:r>
              <a:rPr lang="ko-KR" altLang="en-US" sz="1400" dirty="0"/>
              <a:t>를 핵심으로 설계했습니다</a:t>
            </a:r>
            <a:r>
              <a:rPr lang="en-US" altLang="ko-KR" sz="1400" dirty="0"/>
              <a:t>. </a:t>
            </a:r>
          </a:p>
          <a:p>
            <a:pPr>
              <a:lnSpc>
                <a:spcPct val="140000"/>
              </a:lnSpc>
            </a:pPr>
            <a:r>
              <a:rPr lang="en-US" altLang="ko-KR" sz="1400" dirty="0" err="1"/>
              <a:t>i</a:t>
            </a:r>
            <a:r>
              <a:rPr lang="en-US" altLang="ko-KR" sz="1400" dirty="0"/>
              <a:t>)</a:t>
            </a:r>
            <a:r>
              <a:rPr lang="ko-KR" altLang="en-US" sz="1400" dirty="0"/>
              <a:t>근무 종료 </a:t>
            </a:r>
            <a:r>
              <a:rPr lang="en-US" altLang="ko-KR" sz="1400" dirty="0"/>
              <a:t>1</a:t>
            </a:r>
            <a:r>
              <a:rPr lang="ko-KR" altLang="en-US" sz="1400" dirty="0"/>
              <a:t>시간 후 지급을 약속하거나</a:t>
            </a:r>
            <a:r>
              <a:rPr lang="en-US" altLang="ko-KR" sz="1400" dirty="0"/>
              <a:t>(CASE1), </a:t>
            </a:r>
          </a:p>
          <a:p>
            <a:pPr>
              <a:lnSpc>
                <a:spcPct val="140000"/>
              </a:lnSpc>
            </a:pPr>
            <a:r>
              <a:rPr lang="en-US" altLang="ko-KR" sz="1400" dirty="0"/>
              <a:t>ii)</a:t>
            </a:r>
            <a:r>
              <a:rPr lang="ko-KR" altLang="en-US" sz="1400" dirty="0"/>
              <a:t>어렵다면 지급예정일을 명확히 표시하는 방식</a:t>
            </a:r>
            <a:r>
              <a:rPr lang="en-US" altLang="ko-KR" sz="1400" dirty="0"/>
              <a:t>(CASE2)</a:t>
            </a:r>
            <a:r>
              <a:rPr lang="ko-KR" altLang="en-US" sz="1400" dirty="0"/>
              <a:t>으로</a:t>
            </a:r>
            <a:r>
              <a:rPr lang="en-US" altLang="ko-KR" sz="1400" dirty="0"/>
              <a:t>, </a:t>
            </a:r>
            <a:r>
              <a:rPr lang="ko-KR" altLang="en-US" sz="1400" dirty="0"/>
              <a:t>지원자가 안심하고 매칭에 참여할 수 있게 하는 데 집중했습니다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실제 </a:t>
            </a:r>
            <a:r>
              <a:rPr lang="ko-KR" altLang="en-US" sz="1400" dirty="0" err="1"/>
              <a:t>원천세</a:t>
            </a:r>
            <a:r>
              <a:rPr lang="ko-KR" altLang="en-US" sz="1400" dirty="0"/>
              <a:t> 공제</a:t>
            </a:r>
            <a:r>
              <a:rPr lang="en-US" altLang="ko-KR" sz="1400" dirty="0"/>
              <a:t>·</a:t>
            </a:r>
            <a:r>
              <a:rPr lang="ko-KR" altLang="en-US" sz="1400" dirty="0" err="1"/>
              <a:t>실계좌</a:t>
            </a:r>
            <a:r>
              <a:rPr lang="ko-KR" altLang="en-US" sz="1400" dirty="0"/>
              <a:t> 이체 등 정산 인프라는 </a:t>
            </a:r>
            <a:r>
              <a:rPr lang="en-US" altLang="ko-KR" sz="1400" dirty="0"/>
              <a:t>Phase 2 </a:t>
            </a:r>
            <a:r>
              <a:rPr lang="ko-KR" altLang="en-US" sz="1400" dirty="0"/>
              <a:t>확장 제안으로 별도 구성했습니다</a:t>
            </a:r>
            <a:r>
              <a:rPr lang="en-US" altLang="ko-KR" sz="1400" dirty="0"/>
              <a:t>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1C4382FD-42A1-88E4-1DB4-D6CBD17AC4D1}"/>
              </a:ext>
            </a:extLst>
          </p:cNvPr>
          <p:cNvSpPr txBox="1"/>
          <p:nvPr/>
        </p:nvSpPr>
        <p:spPr>
          <a:xfrm>
            <a:off x="4274316" y="1967122"/>
            <a:ext cx="11223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spcAft>
                <a:spcPts val="600"/>
              </a:spcAft>
              <a:buSzPct val="100000"/>
            </a:pPr>
            <a:r>
              <a:rPr lang="ko-KR" altLang="en-US" sz="1300" b="1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저지요소</a:t>
            </a:r>
            <a:endParaRPr lang="en-US" altLang="ko-KR" sz="1300" b="1" dirty="0">
              <a:solidFill>
                <a:srgbClr val="4A4E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C02DD91-5497-953C-BCAF-869361C0CD6B}"/>
              </a:ext>
            </a:extLst>
          </p:cNvPr>
          <p:cNvCxnSpPr/>
          <p:nvPr/>
        </p:nvCxnSpPr>
        <p:spPr>
          <a:xfrm>
            <a:off x="3626603" y="2515762"/>
            <a:ext cx="387458" cy="0"/>
          </a:xfrm>
          <a:prstGeom prst="straightConnector1">
            <a:avLst/>
          </a:prstGeom>
          <a:ln w="9525" cap="flat" cmpd="sng" algn="ctr">
            <a:solidFill>
              <a:srgbClr val="24525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UT로 검증한 문제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실사용자 12명에게 직접 확인했습니다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급구</a:t>
            </a:r>
            <a:r>
              <a:rPr lang="ko-KR" alt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 </a:t>
            </a:r>
            <a:r>
              <a:rPr lang="en-US" altLang="ko-KR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 · </a:t>
            </a: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당근</a:t>
            </a:r>
            <a:r>
              <a:rPr lang="ko-KR" alt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3명 · </a:t>
            </a:r>
            <a:r>
              <a:rPr lang="ko-KR" alt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N잡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관심 낮은 정기 </a:t>
            </a: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알바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알바몬</a:t>
            </a:r>
            <a:r>
              <a:rPr lang="en-US" altLang="ko-KR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1명 · 과거 N잡 </a:t>
            </a: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경험자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1명 ·, N</a:t>
            </a:r>
            <a:r>
              <a:rPr lang="ko-KR" alt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잡</a:t>
            </a:r>
            <a:r>
              <a:rPr lang="ko-KR" alt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관심이 낮은 </a:t>
            </a:r>
            <a:r>
              <a:rPr lang="en-US" altLang="ko-KR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ko-KR" alt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</a:t>
            </a:r>
            <a:r>
              <a:rPr lang="en-US" altLang="ko-KR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18명을 대상으로 진행했습니다.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642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(전체 인터뷰 </a:t>
            </a:r>
            <a:r>
              <a:rPr lang="en-US" sz="1050" i="1" dirty="0" err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응답자는</a:t>
            </a:r>
            <a:r>
              <a:rPr lang="en-US" sz="10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18명이며, 이 중 유의미한 응답을 준 9명을 기준으로 정리했습니다)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7F7F3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212848"/>
            <a:ext cx="1051560" cy="429768"/>
          </a:xfrm>
          <a:prstGeom prst="roundRect">
            <a:avLst>
              <a:gd name="adj" fmla="val 21277"/>
            </a:avLst>
          </a:prstGeom>
          <a:solidFill>
            <a:srgbClr val="3EA8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21284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1579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 종료 시간 명확화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39696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급구·당근 경험자 8명 모두 지원 의사에 영향받는 요소로 언급했고, 정기 알바 근무자에게도 영향을 주는 요소였습니다.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7F7F3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990088"/>
            <a:ext cx="1051560" cy="429768"/>
          </a:xfrm>
          <a:prstGeom prst="roundRect">
            <a:avLst>
              <a:gd name="adj" fmla="val 21277"/>
            </a:avLst>
          </a:prstGeom>
          <a:solidFill>
            <a:srgbClr val="3EA89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9008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9352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근무종료 1시간 후 급여지급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916936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급구·당근 경험자 8명은 지원 결정 요소로 꼽았습니다. 다만 고정 근무 형태인 정기 알바 이용자 1명은 관심이 낮았습니다.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1F2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822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급구와 비슷하다는 인상은 아니었습니다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330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대상 11명 중 10명이 '유사하지 않다'고 답했고(색감이 급구의 파란색과 다름 · 리스트형 UI는 일반적 형태로 인식), 1명만 '전체적으로 비슷하다'는 </a:t>
            </a:r>
            <a:r>
              <a:rPr lang="en-US" sz="115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인상을</a:t>
            </a:r>
            <a:r>
              <a:rPr lang="en-US" sz="115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받았습니다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유의할 점: </a:t>
            </a:r>
            <a:r>
              <a:rPr lang="en-US" sz="1150" i="1" dirty="0" err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급구</a:t>
            </a:r>
            <a:r>
              <a:rPr lang="ko-KR" altLang="en-US" sz="11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</a:t>
            </a:r>
            <a:r>
              <a:rPr lang="en-US" sz="11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1명은 화면이 다소 복잡하다는 의견을, </a:t>
            </a:r>
            <a:r>
              <a:rPr lang="en-US" sz="1150" i="1" dirty="0" err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당근</a:t>
            </a:r>
            <a:r>
              <a:rPr lang="ko-KR" altLang="en-US" sz="11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</a:t>
            </a:r>
            <a:r>
              <a:rPr lang="en-US" sz="11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1명은 실제 지원 여부는 서비스 인지도에 달려 있다는 의견을 주셨습니다.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24525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그래도 구분을 더 확실히 하기 위해, 당일 미지급 일감도 지급예정일을 반드시 명시하고 미준수 5회 누적 시 일감 등록을 제한하는 정책을 제안 범위에 포함했습니다.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사용자 화면 흐름 — CASE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: 근무시간을 분명히, 급여는 '1시간 후'로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일감에 근무시간을 항상 표시하고, 근무종료 1시간 후 급여지급을 약속하는 버전입니다.</a:t>
            </a:r>
            <a:endParaRPr lang="en-US" sz="1300" dirty="0"/>
          </a:p>
        </p:txBody>
      </p:sp>
      <p:pic>
        <p:nvPicPr>
          <p:cNvPr id="5" name="Image 0" descr="/mnt/user-data/uploads/위매칭_일감목록화면_cas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440" y="1783080"/>
            <a:ext cx="2066574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14440" y="6016752"/>
            <a:ext cx="206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일감 목록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90158" y="3753612"/>
            <a:ext cx="146304" cy="219456"/>
          </a:xfrm>
          <a:prstGeom prst="rightArrow">
            <a:avLst/>
          </a:prstGeom>
          <a:solidFill>
            <a:srgbClr val="B9C4C2"/>
          </a:solidFill>
          <a:ln/>
        </p:spPr>
      </p:sp>
      <p:pic>
        <p:nvPicPr>
          <p:cNvPr id="8" name="Image 1" descr="/mnt/user-data/uploads/위매칭_일감화면_case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606" y="1783080"/>
            <a:ext cx="2066574" cy="4160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945606" y="6016752"/>
            <a:ext cx="206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일감 상세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21324" y="3753612"/>
            <a:ext cx="146304" cy="219456"/>
          </a:xfrm>
          <a:prstGeom prst="rightArrow">
            <a:avLst/>
          </a:prstGeom>
          <a:solidFill>
            <a:srgbClr val="B9C4C2"/>
          </a:solidFill>
          <a:ln/>
        </p:spPr>
      </p:sp>
      <p:pic>
        <p:nvPicPr>
          <p:cNvPr id="11" name="Image 2" descr="/mnt/user-data/uploads/위매칭_지원완료화면_case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772" y="1783080"/>
            <a:ext cx="2066574" cy="41605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76772" y="6016752"/>
            <a:ext cx="206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지원 완료</a:t>
            </a:r>
            <a:endParaRPr lang="en-US" sz="1200" dirty="0"/>
          </a:p>
        </p:txBody>
      </p:sp>
      <p:pic>
        <p:nvPicPr>
          <p:cNvPr id="14" name="Image 3" descr="/mnt/user-data/uploads/위매칭_채용완료화면_case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7938" y="1783080"/>
            <a:ext cx="2066574" cy="41605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407938" y="6016752"/>
            <a:ext cx="206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채용 완료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cxnSp>
        <p:nvCxnSpPr>
          <p:cNvPr id="9001" name="HireDecisionArrow"/>
          <p:cNvCxnSpPr/>
          <p:nvPr/>
        </p:nvCxnSpPr>
        <p:spPr>
          <a:xfrm>
            <a:off x="8283346" y="3863340"/>
            <a:ext cx="1084592" cy="0"/>
          </a:xfrm>
          <a:prstGeom prst="straightConnector1">
            <a:avLst/>
          </a:prstGeom>
          <a:ln w="38100">
            <a:solidFill>
              <a:srgbClr val="24525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2" name="HireDecisionBox"/>
          <p:cNvSpPr/>
          <p:nvPr/>
        </p:nvSpPr>
        <p:spPr>
          <a:xfrm>
            <a:off x="8325642" y="3613340"/>
            <a:ext cx="1000000" cy="5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prstDash val="dash"/>
          </a:ln>
        </p:spPr>
        <p:txBody>
          <a:bodyPr wrap="square" lIns="45720" tIns="27432" rIns="45720" bIns="27432" anchor="ctr">
            <a:normAutofit fontScale="85000" lnSpcReduction="10000"/>
          </a:bodyPr>
          <a:lstStyle/>
          <a:p>
            <a:pPr algn="ctr"/>
            <a:r>
              <a:rPr lang="ko-KR" altLang="en-US" sz="13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사업주 채용의사결정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사용자 화면 흐름 — CASE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 : </a:t>
            </a:r>
            <a:r>
              <a:rPr lang="ko-KR" altLang="en-US" sz="26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근무시간을 분명히</a:t>
            </a:r>
            <a:r>
              <a:rPr lang="en-US" altLang="ko-KR" sz="26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ko-KR" altLang="en-US" sz="26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당일 지급이 안된다면 적어도 언제 주는지를 명시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급여는 특정 날짜(예: 다음날)에 </a:t>
            </a:r>
            <a:r>
              <a:rPr lang="ko-KR" alt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매장 또는 프랜차이즈 본사를 통해 직접 </a:t>
            </a:r>
            <a:r>
              <a:rPr lang="en-US" sz="13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지급되는</a:t>
            </a:r>
            <a:r>
              <a:rPr 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방식 </a:t>
            </a:r>
            <a:r>
              <a:rPr lang="en-US" sz="13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버전입니다</a:t>
            </a:r>
            <a:r>
              <a:rPr 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.(</a:t>
            </a:r>
            <a:r>
              <a:rPr lang="ko-KR" alt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지급예정일 </a:t>
            </a:r>
            <a:r>
              <a:rPr lang="ko-KR" altLang="en-US" sz="13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미준수</a:t>
            </a:r>
            <a:r>
              <a:rPr lang="ko-KR" alt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ko-KR" alt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 초과시 일감 등록 차단됨</a:t>
            </a:r>
            <a:r>
              <a:rPr lang="en-US" altLang="ko-KR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714440" y="6016752"/>
            <a:ext cx="206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일감 목록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90158" y="3753612"/>
            <a:ext cx="146304" cy="219456"/>
          </a:xfrm>
          <a:prstGeom prst="rightArrow">
            <a:avLst/>
          </a:prstGeom>
          <a:solidFill>
            <a:srgbClr val="B9C4C2"/>
          </a:solidFill>
          <a:ln/>
        </p:spPr>
      </p:sp>
      <p:pic>
        <p:nvPicPr>
          <p:cNvPr id="8" name="Image 1" descr="/mnt/user-data/uploads/위매칭_일감화면_cas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606" y="1783080"/>
            <a:ext cx="2066574" cy="4160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945606" y="6016752"/>
            <a:ext cx="206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일감 상세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21324" y="3753612"/>
            <a:ext cx="146304" cy="219456"/>
          </a:xfrm>
          <a:prstGeom prst="rightArrow">
            <a:avLst/>
          </a:prstGeom>
          <a:solidFill>
            <a:srgbClr val="B9C4C2"/>
          </a:solidFill>
          <a:ln/>
        </p:spPr>
      </p:sp>
      <p:pic>
        <p:nvPicPr>
          <p:cNvPr id="11" name="Image 2" descr="/mnt/user-data/uploads/위매칭_지원완료화면_cas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772" y="1783080"/>
            <a:ext cx="2066574" cy="41605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76772" y="6016752"/>
            <a:ext cx="206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지원 완료</a:t>
            </a:r>
            <a:endParaRPr lang="en-US" sz="1200" dirty="0"/>
          </a:p>
        </p:txBody>
      </p:sp>
      <p:pic>
        <p:nvPicPr>
          <p:cNvPr id="14" name="Image 3" descr="/mnt/user-data/uploads/위매칭_채용완료화면_case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7938" y="1783080"/>
            <a:ext cx="2066574" cy="41605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407938" y="6016752"/>
            <a:ext cx="206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채용 완료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17" name="Image 0" descr="/mnt/user-data/uploads/위매칭_일감목록화면_case1.jpg">
            <a:extLst>
              <a:ext uri="{FF2B5EF4-FFF2-40B4-BE49-F238E27FC236}">
                <a16:creationId xmlns:a16="http://schemas.microsoft.com/office/drawing/2014/main" id="{2CDD5182-8CB7-EC44-63C9-6C602C0B27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440" y="1783080"/>
            <a:ext cx="2066574" cy="4160520"/>
          </a:xfrm>
          <a:prstGeom prst="rect">
            <a:avLst/>
          </a:prstGeom>
        </p:spPr>
      </p:pic>
      <p:cxnSp>
        <p:nvCxnSpPr>
          <p:cNvPr id="9001" name="HireDecisionArrow"/>
          <p:cNvCxnSpPr/>
          <p:nvPr/>
        </p:nvCxnSpPr>
        <p:spPr>
          <a:xfrm>
            <a:off x="8283346" y="3863340"/>
            <a:ext cx="1084592" cy="0"/>
          </a:xfrm>
          <a:prstGeom prst="straightConnector1">
            <a:avLst/>
          </a:prstGeom>
          <a:ln w="38100">
            <a:solidFill>
              <a:srgbClr val="24525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2" name="HireDecisionBox"/>
          <p:cNvSpPr/>
          <p:nvPr/>
        </p:nvSpPr>
        <p:spPr>
          <a:xfrm>
            <a:off x="8325642" y="3613340"/>
            <a:ext cx="1000000" cy="5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prstDash val="dash"/>
          </a:ln>
        </p:spPr>
        <p:txBody>
          <a:bodyPr wrap="square" lIns="45720" tIns="27432" rIns="45720" bIns="27432" anchor="ctr">
            <a:normAutofit fontScale="85000" lnSpcReduction="10000"/>
          </a:bodyPr>
          <a:lstStyle/>
          <a:p>
            <a:pPr algn="ctr"/>
            <a:r>
              <a:rPr lang="ko-KR" altLang="en-US" sz="13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사업주 채용의사결정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이번 제안의 범위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매칭 엔진에 집중하고, 급여 정산 엔진은 Phase 2로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리소스와 법적 리스크가 큰 항목은 다음 단계로 분리하고, 이번 제안에서는 화면(UX)으로 '지급 약속'에 대한 신뢰를 먼저 검증합니다.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E7F7F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67712"/>
            <a:ext cx="274320" cy="274320"/>
          </a:xfrm>
          <a:prstGeom prst="ellipse">
            <a:avLst/>
          </a:prstGeom>
          <a:solidFill>
            <a:srgbClr val="3EA89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07008" y="2240280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이번에 제안하는 것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근로자용 매칭 퍼널 완결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일감 탐색 → 지원 → 매칭 → 근무완료까지 전 화면</a:t>
            </a:r>
            <a:endParaRPr lang="en-US" sz="1250" dirty="0"/>
          </a:p>
          <a:p>
            <a:pPr marL="228600" indent="-2286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'근무 후 1시간 지급 대기' 상태 UI + 타임스탬프</a:t>
            </a:r>
            <a:endParaRPr lang="en-US" sz="1250" dirty="0"/>
          </a:p>
          <a:p>
            <a:pPr marL="228600" indent="-2286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미지급 일감은 지급예정일 명시 + 미준수 5회 누적 시 등록 제한</a:t>
            </a:r>
            <a:endParaRPr lang="en-US" sz="1250" b="1" dirty="0"/>
          </a:p>
          <a:p>
            <a:pPr marL="228600" indent="-2286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정상/예외 케이스 상태 흐름(State Table) 설계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2057400"/>
            <a:ext cx="5285232" cy="3566160"/>
          </a:xfrm>
          <a:prstGeom prst="roundRect">
            <a:avLst>
              <a:gd name="adj" fmla="val 2051"/>
            </a:avLst>
          </a:prstGeom>
          <a:solidFill>
            <a:srgbClr val="F1F2F5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2267712"/>
            <a:ext cx="274320" cy="274320"/>
          </a:xfrm>
          <a:prstGeom prst="ellipse">
            <a:avLst/>
          </a:prstGeom>
          <a:solidFill>
            <a:srgbClr val="8A8F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13448" y="224028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2로 제안하는 것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651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 정산 엔진 (실계좌 이체)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0175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매장 선입금 → 원천세 자동 공제 → 오픈뱅킹 실계좌 이체</a:t>
            </a:r>
            <a:endParaRPr lang="en-US" sz="1250" dirty="0"/>
          </a:p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지급명세서 자동 발급까지 포함한 정산 인프라</a:t>
            </a:r>
            <a:endParaRPr lang="en-US" sz="1250" dirty="0"/>
          </a:p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커머스 예치금과 달리, 급여는 통화로 근로자 본인 계좌에 직접 지급되어야 하는 법적 요건이 있어 별도 단계로 분리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다음 단계 제안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2에서는 급여 정산 엔진까지 확장하는 방향을 제안드립니다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5623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2452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56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이번 제안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048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매칭 안정화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ko-KR" altLang="en-US" sz="1200" dirty="0"/>
              <a:t>근무자 공백 시간과 매장 필요 시점을 연결하여 실시간 매칭을 </a:t>
            </a:r>
            <a:r>
              <a:rPr lang="ko-KR" altLang="en-US" sz="1200" dirty="0" err="1"/>
              <a:t>안정화합니다</a:t>
            </a:r>
            <a:r>
              <a:rPr lang="en-US" altLang="ko-KR" sz="1200" dirty="0"/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86784" y="3017520"/>
            <a:ext cx="164592" cy="237744"/>
          </a:xfrm>
          <a:prstGeom prst="rightArrow">
            <a:avLst/>
          </a:prstGeom>
          <a:solidFill>
            <a:srgbClr val="B9C4C2"/>
          </a:solidFill>
          <a:ln/>
        </p:spPr>
      </p:sp>
      <p:sp>
        <p:nvSpPr>
          <p:cNvPr id="10" name="Shape 8"/>
          <p:cNvSpPr/>
          <p:nvPr/>
        </p:nvSpPr>
        <p:spPr>
          <a:xfrm>
            <a:off x="4160520" y="160020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85623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24525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4840" y="1856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다음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4048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 </a:t>
            </a:r>
            <a:r>
              <a:rPr lang="en-US" sz="1600" b="1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</a:t>
            </a:r>
            <a:r>
              <a:rPr lang="en-US" sz="16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</a:t>
            </a:r>
            <a:r>
              <a:rPr lang="en-US" sz="16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업무경험 공유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0175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1)</a:t>
            </a:r>
            <a:r>
              <a:rPr lang="ko-KR" alt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정산 시스템 </a:t>
            </a:r>
            <a:r>
              <a:rPr lang="en-US" altLang="ko-KR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>
              <a:lnSpc>
                <a:spcPct val="130000"/>
              </a:lnSpc>
            </a:pP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선입금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원천세 공제 →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실계좌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이체까지</a:t>
            </a:r>
            <a:r>
              <a:rPr lang="ko-KR" alt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실지급</a:t>
            </a:r>
            <a:r>
              <a:rPr lang="ko-KR" alt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프로세스 구축</a:t>
            </a:r>
            <a:b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2)</a:t>
            </a:r>
            <a:r>
              <a:rPr lang="ko-KR" alt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업무경험 평가</a:t>
            </a:r>
            <a:endParaRPr lang="en-US" altLang="ko-KR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바쁨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/ 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근무 분위기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막대형태로 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1~10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점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급여의 약속일자 지급여부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(yes/no</a:t>
            </a:r>
            <a:r>
              <a:rPr lang="ko-KR" altLang="en-US" sz="1200" dirty="0">
                <a:latin typeface="Calibri" pitchFamily="34" charset="0"/>
                <a:cs typeface="Calibri" pitchFamily="34" charset="-120"/>
              </a:rPr>
              <a:t> 확인</a:t>
            </a:r>
            <a:r>
              <a:rPr lang="en-US" altLang="ko-KR" sz="1200" dirty="0">
                <a:latin typeface="Calibri" pitchFamily="34" charset="0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98664" y="3017520"/>
            <a:ext cx="164592" cy="237744"/>
          </a:xfrm>
          <a:prstGeom prst="rightArrow">
            <a:avLst/>
          </a:prstGeom>
          <a:solidFill>
            <a:srgbClr val="B9C4C2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160020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85623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24525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1856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확장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24048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고용주 대시보드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30175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고용주용 통합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대시보드와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결근을 방지하는 근태기반 추천제도를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도입합니</a:t>
            </a:r>
            <a:r>
              <a:rPr lang="ko-KR" alt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24525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983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1은 오늘 시연드리는 범위이며, Phase 2·3은 다음 확장 방향에 대한 제안입니다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440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미팅에서는 Phase 1 프로토타입을 시연드리고, 위솝에서 이 스코프대로 확장을 검토해 보실 수 있도록 방향을 공유드리고 싶습니다.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408438C-C219-8F5E-0A11-659AF16AA7BB}"/>
              </a:ext>
            </a:extLst>
          </p:cNvPr>
          <p:cNvSpPr txBox="1"/>
          <p:nvPr/>
        </p:nvSpPr>
        <p:spPr>
          <a:xfrm>
            <a:off x="430106" y="163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7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756520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848</Words>
  <Application>Microsoft Office PowerPoint</Application>
  <PresentationFormat>와이드스크린</PresentationFormat>
  <Paragraphs>95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Hyewon Lee</cp:lastModifiedBy>
  <cp:revision>7</cp:revision>
  <dcterms:created xsi:type="dcterms:W3CDTF">2026-09-15T02:07:25Z</dcterms:created>
  <dcterms:modified xsi:type="dcterms:W3CDTF">2026-09-15T12:04:37Z</dcterms:modified>
</cp:coreProperties>
</file>