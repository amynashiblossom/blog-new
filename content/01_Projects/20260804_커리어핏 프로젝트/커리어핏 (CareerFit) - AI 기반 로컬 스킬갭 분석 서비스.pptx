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Relationship Id="rId9" Type="http://schemas.openxmlformats.org/officeDocument/2006/relationships/image" Target="../media/image14.png"/><Relationship Id="rId10" Type="http://schemas.openxmlformats.org/officeDocument/2006/relationships/image" Target="../media/image1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Relationship Id="rId8" Type="http://schemas.openxmlformats.org/officeDocument/2006/relationships/image" Target="../media/image21.png"/><Relationship Id="rId9" Type="http://schemas.openxmlformats.org/officeDocument/2006/relationships/image" Target="../media/image22.png"/><Relationship Id="rId10" Type="http://schemas.openxmlformats.org/officeDocument/2006/relationships/image" Target="../media/image23.png"/><Relationship Id="rId11" Type="http://schemas.openxmlformats.org/officeDocument/2006/relationships/image" Target="../media/image24.png"/><Relationship Id="rId12" Type="http://schemas.openxmlformats.org/officeDocument/2006/relationships/image" Target="../media/image2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Relationship Id="rId7" Type="http://schemas.openxmlformats.org/officeDocument/2006/relationships/image" Target="../media/image30.png"/><Relationship Id="rId8" Type="http://schemas.openxmlformats.org/officeDocument/2006/relationships/image" Target="../media/image31.png"/><Relationship Id="rId9" Type="http://schemas.openxmlformats.org/officeDocument/2006/relationships/image" Target="../media/image32.png"/><Relationship Id="rId10" Type="http://schemas.openxmlformats.org/officeDocument/2006/relationships/image" Target="../media/image33.png"/><Relationship Id="rId11" Type="http://schemas.openxmlformats.org/officeDocument/2006/relationships/image" Target="../media/image34.png"/><Relationship Id="rId12" Type="http://schemas.openxmlformats.org/officeDocument/2006/relationships/image" Target="../media/image35.png"/><Relationship Id="rId13" Type="http://schemas.openxmlformats.org/officeDocument/2006/relationships/image" Target="../media/image36.png"/><Relationship Id="rId14" Type="http://schemas.openxmlformats.org/officeDocument/2006/relationships/image" Target="../media/image3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8.png"/><Relationship Id="rId4" Type="http://schemas.openxmlformats.org/officeDocument/2006/relationships/image" Target="../media/image39.png"/><Relationship Id="rId5" Type="http://schemas.openxmlformats.org/officeDocument/2006/relationships/image" Target="../media/image40.png"/><Relationship Id="rId6" Type="http://schemas.openxmlformats.org/officeDocument/2006/relationships/image" Target="../media/image41.png"/><Relationship Id="rId7" Type="http://schemas.openxmlformats.org/officeDocument/2006/relationships/image" Target="../media/image4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00" y="952500"/>
            <a:ext cx="5372100" cy="4953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324350"/>
            <a:ext cx="2534840" cy="7143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525" y="4481512"/>
            <a:ext cx="400050" cy="4000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819275"/>
            <a:ext cx="5276850" cy="3429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1500" y="2276475"/>
            <a:ext cx="5540692" cy="1000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937"/>
              </a:lnSpc>
            </a:pPr>
            <a:r>
              <a:rPr b="0" sz="3150" i="0" u="none">
                <a:solidFill>
                  <a:srgbClr val="0A0A0A"/>
                </a:solidFill>
                <a:latin typeface="Noto Sans KR Black"/>
              </a:rPr>
              <a:t>내 서류 분석은 안전하게</a:t>
            </a:r>
            <a:r>
              <a:t>
</a:t>
            </a:r>
            <a:r>
              <a:rPr b="0" sz="3150" i="0" u="none">
                <a:solidFill>
                  <a:srgbClr val="2EB0A6"/>
                </a:solidFill>
                <a:latin typeface="Noto Sans KR Black"/>
              </a:rPr>
              <a:t>내 컴퓨터(로컬)로!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3467100"/>
            <a:ext cx="52768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3A3A3A"/>
                </a:solidFill>
                <a:latin typeface="Noto Sans KR Medium"/>
              </a:rPr>
              <a:t>다양한 채용 공고와 내 서류 간 스킬갭을 정밀하게 분석하는 스마트 채용 에이전트, </a:t>
            </a:r>
            <a:r>
              <a:rPr b="1" sz="1500" i="0" u="none">
                <a:solidFill>
                  <a:srgbClr val="3A3A3A"/>
                </a:solidFill>
                <a:latin typeface="Noto Sans KR"/>
              </a:rPr>
              <a:t>CareerFit</a:t>
            </a:r>
            <a:r>
              <a:rPr b="0" sz="1500" i="0" u="none">
                <a:solidFill>
                  <a:srgbClr val="3A3A3A"/>
                </a:solidFill>
                <a:latin typeface="Noto Sans KR Medium"/>
              </a:rPr>
              <a:t>!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53175" y="1057275"/>
            <a:ext cx="5162550" cy="47434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4850" y="1914525"/>
            <a:ext cx="118616" cy="152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323975" y="4467225"/>
            <a:ext cx="1582340" cy="2428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0A0A0A"/>
                </a:solidFill>
                <a:latin typeface="Noto Sans KR"/>
              </a:rPr>
              <a:t>PM 이혜원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3975" y="4710112"/>
            <a:ext cx="1582340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6A6A6A"/>
                </a:solidFill>
                <a:latin typeface="Noto Sans KR"/>
              </a:rPr>
              <a:t>커리어핏 서비스 기획 &amp; 개발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942975"/>
            <a:ext cx="5372100" cy="54387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400" y="942975"/>
            <a:ext cx="5372100" cy="54387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725" y="5438775"/>
            <a:ext cx="4819650" cy="6667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725" y="1219200"/>
            <a:ext cx="3052464" cy="3429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7725" y="1771650"/>
            <a:ext cx="5060632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1" sz="1800" i="0" u="none">
                <a:solidFill>
                  <a:srgbClr val="0A0A0A"/>
                </a:solidFill>
                <a:latin typeface="Noto Sans KR"/>
              </a:rPr>
              <a:t>"이 공고에 내 서류가 진짜 적합할까?"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9175" y="5610225"/>
            <a:ext cx="103733" cy="1333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15100" y="1209675"/>
            <a:ext cx="2956619" cy="3429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515100" y="1762125"/>
            <a:ext cx="5080635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1" sz="1800" i="0" u="none">
                <a:solidFill>
                  <a:srgbClr val="FFFFFF"/>
                </a:solidFill>
                <a:latin typeface="Noto Sans KR"/>
              </a:rPr>
              <a:t>100% 로컬 실행 &amp; AI 정밀 매칭 진단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48450" y="5619750"/>
            <a:ext cx="103733" cy="1333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1075" y="1314450"/>
            <a:ext cx="118616" cy="152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14425" y="2305050"/>
            <a:ext cx="455295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3A3A3A"/>
                </a:solidFill>
                <a:latin typeface="Noto Sans KR"/>
              </a:rPr>
              <a:t>서류 매칭 불확실성:</a:t>
            </a:r>
            <a:r>
              <a:rPr b="0" sz="1275" i="0" u="none">
                <a:solidFill>
                  <a:srgbClr val="3A3A3A"/>
                </a:solidFill>
                <a:latin typeface="Noto Sans KR"/>
              </a:rPr>
              <a:t> 복잡한 JD 속 내 역량이 실제 요구사항에 얼마나 부합하는지 정량적 확인 불가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4425" y="2924175"/>
            <a:ext cx="455295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3A3A3A"/>
                </a:solidFill>
                <a:latin typeface="Noto Sans KR"/>
              </a:rPr>
              <a:t>스킬 갭(Skill Gap) 오판:</a:t>
            </a:r>
            <a:r>
              <a:rPr b="0" sz="1275" i="0" u="none">
                <a:solidFill>
                  <a:srgbClr val="3A3A3A"/>
                </a:solidFill>
                <a:latin typeface="Noto Sans KR"/>
              </a:rPr>
              <a:t> 공고에서 진짜 요구하는 핵심 기술과 내 서류 간의 차이를 모른 채 서류 탈락 반복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4425" y="3543300"/>
            <a:ext cx="455295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3A3A3A"/>
                </a:solidFill>
                <a:latin typeface="Noto Sans KR"/>
              </a:rPr>
              <a:t>지원서 작성 시간 낭비:</a:t>
            </a:r>
            <a:r>
              <a:rPr b="0" sz="1275" i="0" u="none">
                <a:solidFill>
                  <a:srgbClr val="3A3A3A"/>
                </a:solidFill>
                <a:latin typeface="Noto Sans KR"/>
              </a:rPr>
              <a:t> 적합도가 낮은 공고에도 무분별하게 서류를 수정하고 지원하는 비효율 발생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4425" y="4162425"/>
            <a:ext cx="455295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3A3A3A"/>
                </a:solidFill>
                <a:latin typeface="Noto Sans KR"/>
              </a:rPr>
              <a:t>개인 이력서 유출 불안:</a:t>
            </a:r>
            <a:r>
              <a:rPr b="0" sz="1275" i="0" u="none">
                <a:solidFill>
                  <a:srgbClr val="3A3A3A"/>
                </a:solidFill>
                <a:latin typeface="Noto Sans KR"/>
              </a:rPr>
              <a:t> 민감한 이력서 데이터가 외부 서버에 무단 저장될 것에 대한 보안 우려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81800" y="2295525"/>
            <a:ext cx="457200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FFFFFF"/>
                </a:solidFill>
                <a:latin typeface="Noto Sans KR"/>
              </a:rPr>
              <a:t>Pure SPA 단독 실행:</a:t>
            </a:r>
            <a:r>
              <a:rPr b="0" sz="1275" i="0" u="none">
                <a:solidFill>
                  <a:srgbClr val="FFFFFF"/>
                </a:solidFill>
                <a:latin typeface="Noto Sans KR"/>
              </a:rPr>
              <a:t> 서버 전달 없이 사용자의 브라우저 로컬 환경(`localStorage`)에서 100% 데이터 처리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81800" y="2914650"/>
            <a:ext cx="457200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FFFFFF"/>
                </a:solidFill>
                <a:latin typeface="Noto Sans KR"/>
              </a:rPr>
              <a:t>AI 정량 매칭 점수 산출:</a:t>
            </a:r>
            <a:r>
              <a:rPr b="0" sz="1275" i="0" u="none">
                <a:solidFill>
                  <a:srgbClr val="FFFFFF"/>
                </a:solidFill>
                <a:latin typeface="Noto Sans KR"/>
              </a:rPr>
              <a:t> Gemini AI가 JD 자격요건과 이력서를 다각도로 대조하여 직관적 매칭률(%) 제공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1800" y="3533775"/>
            <a:ext cx="457200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FFFFFF"/>
                </a:solidFill>
                <a:latin typeface="Noto Sans KR"/>
              </a:rPr>
              <a:t>명확한 스킬 갭(Skill Gap) 도출:</a:t>
            </a:r>
            <a:r>
              <a:rPr b="0" sz="1275" i="0" u="none">
                <a:solidFill>
                  <a:srgbClr val="FFFFFF"/>
                </a:solidFill>
                <a:latin typeface="Noto Sans KR"/>
              </a:rPr>
              <a:t> 강점 항목과 더불어 이력서에서 반드시 보완해야 할 KPI 및 스택 가이드 제시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81800" y="4152900"/>
            <a:ext cx="457200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FFFFFF"/>
                </a:solidFill>
                <a:latin typeface="Noto Sans KR"/>
              </a:rPr>
              <a:t>안심 데이터 보안 보장:</a:t>
            </a:r>
            <a:r>
              <a:rPr b="0" sz="1275" i="0" u="none">
                <a:solidFill>
                  <a:srgbClr val="FFFFFF"/>
                </a:solidFill>
                <a:latin typeface="Noto Sans KR"/>
              </a:rPr>
              <a:t> 이력서 및 API Key 정보가 서버로 유출되지 않고 오직 로컬 단에서 암호화 보관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7725" y="2305050"/>
            <a:ext cx="17145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2EB0A6"/>
                </a:solidFill>
                <a:latin typeface="Noto Sans KR Black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7725" y="2924175"/>
            <a:ext cx="17145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2EB0A6"/>
                </a:solidFill>
                <a:latin typeface="Noto Sans KR Black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7725" y="3543300"/>
            <a:ext cx="17145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2EB0A6"/>
                </a:solidFill>
                <a:latin typeface="Noto Sans KR Black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7725" y="4162425"/>
            <a:ext cx="17145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2EB0A6"/>
                </a:solidFill>
                <a:latin typeface="Noto Sans KR Black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5100" y="2295525"/>
            <a:ext cx="17145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A4D4C5"/>
                </a:solidFill>
                <a:latin typeface="Noto Sans KR Black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5100" y="2914650"/>
            <a:ext cx="17145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A4D4C5"/>
                </a:solidFill>
                <a:latin typeface="Noto Sans KR Black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15100" y="3533775"/>
            <a:ext cx="17145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A4D4C5"/>
                </a:solidFill>
                <a:latin typeface="Noto Sans KR Black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15100" y="4152900"/>
            <a:ext cx="17145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A4D4C5"/>
                </a:solidFill>
                <a:latin typeface="Noto Sans KR Black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1500" y="476250"/>
            <a:ext cx="11601450" cy="466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2EB0A6"/>
                </a:solidFill>
                <a:latin typeface="Noto Sans KR"/>
              </a:rPr>
              <a:t>WHY</a:t>
            </a:r>
            <a:r>
              <a:rPr b="1" sz="2700" i="0" u="none">
                <a:solidFill>
                  <a:srgbClr val="0A0A0A"/>
                </a:solidFill>
                <a:latin typeface="Noto Sans KR"/>
              </a:rPr>
              <a:t> CareerFit? : 구직자의 매칭 불확실성 해소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942975"/>
            <a:ext cx="5410200" cy="54387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0300" y="942975"/>
            <a:ext cx="5410200" cy="54387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525" y="2057400"/>
            <a:ext cx="5010150" cy="41243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10325" y="2057400"/>
            <a:ext cx="5010150" cy="41243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1525" y="1543050"/>
            <a:ext cx="50101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555555"/>
                </a:solidFill>
                <a:latin typeface="Noto Sans KR"/>
              </a:rPr>
              <a:t>공고 요구사항과 일치하는 </a:t>
            </a:r>
            <a:r>
              <a:rPr b="1" sz="1050" i="0" u="none">
                <a:solidFill>
                  <a:srgbClr val="555555"/>
                </a:solidFill>
                <a:latin typeface="Noto Sans KR"/>
              </a:rPr>
              <a:t>강점 포인트</a:t>
            </a:r>
            <a:r>
              <a:rPr b="0" sz="1050" i="0" u="none">
                <a:solidFill>
                  <a:srgbClr val="555555"/>
                </a:solidFill>
                <a:latin typeface="Noto Sans KR"/>
              </a:rPr>
              <a:t>와 수치화 성과(KPI) 중심의 </a:t>
            </a:r>
            <a:r>
              <a:rPr b="1" sz="1050" i="0" u="none">
                <a:solidFill>
                  <a:srgbClr val="555555"/>
                </a:solidFill>
                <a:latin typeface="Noto Sans KR"/>
              </a:rPr>
              <a:t>보안/개선 가이드</a:t>
            </a:r>
            <a:r>
              <a:rPr b="0" sz="1050" i="0" u="none">
                <a:solidFill>
                  <a:srgbClr val="555555"/>
                </a:solidFill>
                <a:latin typeface="Noto Sans KR"/>
              </a:rPr>
              <a:t>를 명확히 제시합니다.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10325" y="1543050"/>
            <a:ext cx="50101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555555"/>
                </a:solidFill>
                <a:latin typeface="Noto Sans KR"/>
              </a:rPr>
              <a:t>복잡한 공고 원문에서 </a:t>
            </a:r>
            <a:r>
              <a:rPr b="1" sz="1050" i="0" u="none">
                <a:solidFill>
                  <a:srgbClr val="555555"/>
                </a:solidFill>
                <a:latin typeface="Noto Sans KR"/>
              </a:rPr>
              <a:t>주요 업무, 자격요건, 핵심 역량 키워드태그</a:t>
            </a:r>
            <a:r>
              <a:rPr b="0" sz="1050" i="0" u="none">
                <a:solidFill>
                  <a:srgbClr val="555555"/>
                </a:solidFill>
                <a:latin typeface="Noto Sans KR"/>
              </a:rPr>
              <a:t>(#React, #PM 등)를 자동으로 추출 및 보존합니다.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1525" y="1143000"/>
            <a:ext cx="3688117" cy="285750"/>
          </a:xfrm>
          <a:prstGeom prst="rect">
            <a:avLst/>
          </a:prstGeom>
          <a:noFill/>
        </p:spPr>
        <p:txBody>
          <a:bodyPr wrap="square" lIns="14347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1" sz="1500" i="0" u="none">
                <a:solidFill>
                  <a:srgbClr val="0A0A0A"/>
                </a:solidFill>
                <a:latin typeface="Noto Sans KR"/>
              </a:rPr>
              <a:t>01. 공고 대비 서류 매칭 &amp; 스킬갭 가이드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02125" y="1162050"/>
            <a:ext cx="679549" cy="2476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1050" y="2066925"/>
            <a:ext cx="4991100" cy="410527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10325" y="1143000"/>
            <a:ext cx="4090511" cy="285750"/>
          </a:xfrm>
          <a:prstGeom prst="rect">
            <a:avLst/>
          </a:prstGeom>
          <a:noFill/>
        </p:spPr>
        <p:txBody>
          <a:bodyPr wrap="square" lIns="14347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1" sz="1500" i="0" u="none">
                <a:solidFill>
                  <a:srgbClr val="0A0A0A"/>
                </a:solidFill>
                <a:latin typeface="Noto Sans KR"/>
              </a:rPr>
              <a:t>02. Gemini AI 스마트 JD 파싱 및 키워드 추출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26625" y="1162050"/>
            <a:ext cx="793849" cy="2476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19850" y="2066925"/>
            <a:ext cx="4991100" cy="410527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1525" y="1190625"/>
            <a:ext cx="143470" cy="1905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10325" y="1190625"/>
            <a:ext cx="143470" cy="1905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71500" y="476250"/>
            <a:ext cx="11601450" cy="466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2EB0A6"/>
                </a:solidFill>
                <a:latin typeface="Noto Sans KR"/>
              </a:rPr>
              <a:t>실제 화면 기반</a:t>
            </a:r>
            <a:r>
              <a:rPr b="1" sz="2700" i="0" u="none">
                <a:solidFill>
                  <a:srgbClr val="0A0A0A"/>
                </a:solidFill>
                <a:latin typeface="Noto Sans KR"/>
              </a:rPr>
              <a:t> 핵심 기능 및 매칭 리포트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942975"/>
            <a:ext cx="3530500" cy="37052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0600" y="942975"/>
            <a:ext cx="3530649" cy="37052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9850" y="942975"/>
            <a:ext cx="3530500" cy="37052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725" y="3976687"/>
            <a:ext cx="2978050" cy="395287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06825" y="3976687"/>
            <a:ext cx="2978199" cy="395287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56550" y="3986212"/>
            <a:ext cx="2997100" cy="395287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7725" y="1219200"/>
            <a:ext cx="476250" cy="4762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47725" y="1847850"/>
            <a:ext cx="3126953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1" sz="1500" i="0" u="none">
                <a:solidFill>
                  <a:srgbClr val="0A0A0A"/>
                </a:solidFill>
                <a:latin typeface="Noto Sans KR"/>
              </a:rPr>
              <a:t>01. 월간 캘린더 &amp; D-Day 전형 관리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7725" y="2247900"/>
            <a:ext cx="2978050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A4A4A"/>
                </a:solidFill>
                <a:latin typeface="Noto Sans KR"/>
              </a:rPr>
              <a:t>"흩어진 서류 마감일과 면접 일정을 한눈에 파악할 수 있어 전형 관리가 훨씬 수월해졌습니다."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06825" y="1219200"/>
            <a:ext cx="476250" cy="4762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606825" y="1847850"/>
            <a:ext cx="3127109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1" sz="1500" i="0" u="none">
                <a:solidFill>
                  <a:srgbClr val="0A0A0A"/>
                </a:solidFill>
                <a:latin typeface="Noto Sans KR"/>
              </a:rPr>
              <a:t>02. 스킬 갭(Skill Gap) 정밀 타격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6825" y="2247900"/>
            <a:ext cx="2978199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A4A4A"/>
                </a:solidFill>
                <a:latin typeface="Noto Sans KR"/>
              </a:rPr>
              <a:t>"무작정 서류를 고치는 대신, 공고가 원하는 부족한 키워드와 성과 위주로 바로 수정할 수 있었습니다."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56550" y="1209675"/>
            <a:ext cx="476250" cy="4762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356550" y="1838325"/>
            <a:ext cx="3146955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1" sz="1500" i="0" u="none">
                <a:solidFill>
                  <a:srgbClr val="FFFFFF"/>
                </a:solidFill>
                <a:latin typeface="Noto Sans KR"/>
              </a:rPr>
              <a:t>03. Pure SPA 로컬 프라이버시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6550" y="2238375"/>
            <a:ext cx="2997100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FFFFFF"/>
                </a:solidFill>
                <a:latin typeface="Noto Sans KR"/>
              </a:rPr>
              <a:t>"내 민감한 이력서와 API Key가 외부 서버로 전달되지 않고 내 브라우저에만 저장되니 안심됩니다."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04292" y="1352550"/>
            <a:ext cx="163115" cy="2095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62025" y="3005137"/>
            <a:ext cx="571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3A3A3A"/>
                </a:solidFill>
                <a:latin typeface="Noto Sans KR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9175" y="3005137"/>
            <a:ext cx="2806600" cy="457200"/>
          </a:xfrm>
          <a:prstGeom prst="rect">
            <a:avLst/>
          </a:prstGeom>
          <a:noFill/>
        </p:spPr>
        <p:txBody>
          <a:bodyPr wrap="square" lIns="5715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A3A3A"/>
                </a:solidFill>
                <a:latin typeface="Noto Sans KR"/>
              </a:rPr>
              <a:t>공고 마감일 및 커스텀 전형 일정(1차 면접, 과제) 뱃지 렌더링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2025" y="3462337"/>
            <a:ext cx="571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3A3A3A"/>
                </a:solidFill>
                <a:latin typeface="Noto Sans KR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9175" y="3462337"/>
            <a:ext cx="2806600" cy="228600"/>
          </a:xfrm>
          <a:prstGeom prst="rect">
            <a:avLst/>
          </a:prstGeom>
          <a:noFill/>
        </p:spPr>
        <p:txBody>
          <a:bodyPr wrap="square" lIns="5715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A3A3A"/>
                </a:solidFill>
                <a:latin typeface="Noto Sans KR"/>
              </a:rPr>
              <a:t>원클릭 상세 모달 전환 UX 구현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763392" y="1352550"/>
            <a:ext cx="163115" cy="20955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721125" y="3005137"/>
            <a:ext cx="571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3A3A3A"/>
                </a:solidFill>
                <a:latin typeface="Noto Sans KR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78275" y="3005137"/>
            <a:ext cx="2806749" cy="228600"/>
          </a:xfrm>
          <a:prstGeom prst="rect">
            <a:avLst/>
          </a:prstGeom>
          <a:noFill/>
        </p:spPr>
        <p:txBody>
          <a:bodyPr wrap="square" lIns="5715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A3A3A"/>
                </a:solidFill>
                <a:latin typeface="Noto Sans KR"/>
              </a:rPr>
              <a:t>공고별 부족한 기술 스택 즉시 식별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21125" y="3233737"/>
            <a:ext cx="571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3A3A3A"/>
                </a:solidFill>
                <a:latin typeface="Noto Sans KR"/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78275" y="3233737"/>
            <a:ext cx="2806749" cy="228600"/>
          </a:xfrm>
          <a:prstGeom prst="rect">
            <a:avLst/>
          </a:prstGeom>
          <a:noFill/>
        </p:spPr>
        <p:txBody>
          <a:bodyPr wrap="square" lIns="5715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A3A3A"/>
                </a:solidFill>
                <a:latin typeface="Noto Sans KR"/>
              </a:rPr>
              <a:t>수치화된 성과(KPI) 작성 가이드 제공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513117" y="1343025"/>
            <a:ext cx="163115" cy="20955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8470850" y="2995612"/>
            <a:ext cx="571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FFFFF"/>
                </a:solidFill>
                <a:latin typeface="Noto Sans KR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28000" y="2995612"/>
            <a:ext cx="2825650" cy="228600"/>
          </a:xfrm>
          <a:prstGeom prst="rect">
            <a:avLst/>
          </a:prstGeom>
          <a:noFill/>
        </p:spPr>
        <p:txBody>
          <a:bodyPr wrap="square" lIns="5715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FFFFFF"/>
                </a:solidFill>
                <a:latin typeface="Noto Sans KR"/>
              </a:rPr>
              <a:t>서버 없는 Pure SPA 아키텍처 구축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70850" y="3224212"/>
            <a:ext cx="571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FFFFF"/>
                </a:solidFill>
                <a:latin typeface="Noto Sans KR"/>
              </a:rPr>
              <a:t>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28000" y="3224212"/>
            <a:ext cx="2825650" cy="228600"/>
          </a:xfrm>
          <a:prstGeom prst="rect">
            <a:avLst/>
          </a:prstGeom>
          <a:noFill/>
        </p:spPr>
        <p:txBody>
          <a:bodyPr wrap="square" lIns="5715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FFFFFF"/>
                </a:solidFill>
                <a:latin typeface="Noto Sans KR"/>
              </a:rPr>
              <a:t>`localStorage` 기반 로컬 보안 보관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1500" y="476250"/>
            <a:ext cx="11601450" cy="466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2EB0A6"/>
                </a:solidFill>
                <a:latin typeface="Noto Sans KR"/>
              </a:rPr>
              <a:t>유저 테스트(UT)</a:t>
            </a:r>
            <a:r>
              <a:rPr b="1" sz="2700" i="0" u="none">
                <a:solidFill>
                  <a:srgbClr val="0A0A0A"/>
                </a:solidFill>
                <a:latin typeface="Noto Sans KR"/>
              </a:rPr>
              <a:t>에서 입증된 독보적 강점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66975"/>
            <a:ext cx="11049000" cy="186481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942975"/>
            <a:ext cx="3530500" cy="12382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30600" y="942975"/>
            <a:ext cx="3530649" cy="12382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89850" y="942975"/>
            <a:ext cx="3530500" cy="12382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128785" y="2847975"/>
            <a:ext cx="7934429" cy="6932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729"/>
              </a:lnSpc>
            </a:pPr>
            <a:r>
              <a:rPr b="0" sz="2100" i="0" u="none">
                <a:solidFill>
                  <a:srgbClr val="FFFFFF"/>
                </a:solidFill>
                <a:latin typeface="Noto Sans KR ExtraBold"/>
              </a:rPr>
              <a:t>"스마트한 월간 전형 관리부터 AI 스킬 갭 매칭 진단까지,</a:t>
            </a:r>
            <a:r>
              <a:t>
</a:t>
            </a:r>
            <a:r>
              <a:rPr b="0" sz="2100" i="0" u="none">
                <a:solidFill>
                  <a:srgbClr val="FFFFFF"/>
                </a:solidFill>
                <a:latin typeface="Noto Sans KR ExtraBold"/>
              </a:rPr>
              <a:t> 구직자가 역량을 200% 발휘하도록 돕는 안전한 커리어 에이전트"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7813" y="3693616"/>
            <a:ext cx="6696223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b="0" sz="1350" i="0" u="none">
                <a:solidFill>
                  <a:srgbClr val="E0F2F1"/>
                </a:solidFill>
                <a:latin typeface="Noto Sans KR"/>
              </a:rPr>
              <a:t>커리어핏은 지능적인 로컬 기술로 보안과 맞춤형 취업 준비의 새로운 표준을 제시합니다.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6750" y="4560391"/>
            <a:ext cx="2527845" cy="214312"/>
          </a:xfrm>
          <a:prstGeom prst="rect">
            <a:avLst/>
          </a:prstGeom>
          <a:noFill/>
        </p:spPr>
        <p:txBody>
          <a:bodyPr wrap="square" lIns="111174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6A6A6A"/>
                </a:solidFill>
                <a:latin typeface="Noto Sans KR SemiBold"/>
              </a:rPr>
              <a:t>CareerFit v2 Pure SPA 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26588" y="4560391"/>
            <a:ext cx="1198661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1" sz="1125" i="0" u="none">
                <a:solidFill>
                  <a:srgbClr val="0A0A0A"/>
                </a:solidFill>
                <a:latin typeface="Noto Sans KR"/>
              </a:rPr>
              <a:t>발표자: PM 이혜원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625" y="1181100"/>
            <a:ext cx="30542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b="0" sz="1200" i="0" u="none">
                <a:solidFill>
                  <a:srgbClr val="3A3A3A"/>
                </a:solidFill>
                <a:latin typeface="Noto Sans KR ExtraBold"/>
              </a:rPr>
              <a:t>10분 → 1분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625" y="1485900"/>
            <a:ext cx="30542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b="1" sz="1200" i="0" u="none">
                <a:solidFill>
                  <a:srgbClr val="3A3A3A"/>
                </a:solidFill>
                <a:latin typeface="Noto Sans KR"/>
              </a:rPr>
              <a:t>JD 분석 및 스킬갭 확인 시간 (90% 단축)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8725" y="1181100"/>
            <a:ext cx="305439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b="0" sz="1200" i="0" u="none">
                <a:solidFill>
                  <a:srgbClr val="3A3A3A"/>
                </a:solidFill>
                <a:latin typeface="Noto Sans KR ExtraBold"/>
              </a:rPr>
              <a:t>100%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8725" y="1485900"/>
            <a:ext cx="305439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b="1" sz="1200" i="0" u="none">
                <a:solidFill>
                  <a:srgbClr val="3A3A3A"/>
                </a:solidFill>
                <a:latin typeface="Noto Sans KR"/>
              </a:rPr>
              <a:t>로컬 프라이버시 보호 (Zero Server Exposure)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7975" y="1181100"/>
            <a:ext cx="30542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b="0" sz="1200" i="0" u="none">
                <a:solidFill>
                  <a:srgbClr val="3A3A3A"/>
                </a:solidFill>
                <a:latin typeface="Noto Sans KR ExtraBold"/>
              </a:rPr>
              <a:t>84%+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7975" y="1485900"/>
            <a:ext cx="30542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b="1" sz="1200" i="0" u="none">
                <a:solidFill>
                  <a:srgbClr val="3A3A3A"/>
                </a:solidFill>
                <a:latin typeface="Noto Sans KR"/>
              </a:rPr>
              <a:t>평균 이력서 매칭률 및 서류 완성도 향상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6750" y="4598491"/>
            <a:ext cx="111174" cy="14287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71500" y="476250"/>
            <a:ext cx="11601450" cy="466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2EB0A6"/>
                </a:solidFill>
                <a:latin typeface="Noto Sans KR"/>
              </a:rPr>
              <a:t>커리어핏의 핵심 성과</a:t>
            </a:r>
            <a:r>
              <a:rPr b="1" sz="2700" i="0" u="none">
                <a:solidFill>
                  <a:srgbClr val="0A0A0A"/>
                </a:solidFill>
                <a:latin typeface="Noto Sans KR"/>
              </a:rPr>
              <a:t> 및 서비스 비전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