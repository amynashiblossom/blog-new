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314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6" r:id="rId22"/>
    <p:sldId id="362" r:id="rId23"/>
    <p:sldId id="363" r:id="rId24"/>
    <p:sldId id="364" r:id="rId25"/>
    <p:sldId id="365" r:id="rId26"/>
    <p:sldId id="367" r:id="rId27"/>
    <p:sldId id="33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wner" initials="O" lastIdx="1" clrIdx="0">
    <p:extLst>
      <p:ext uri="{19B8F6BF-5375-455C-9EA6-DF929625EA0E}">
        <p15:presenceInfo xmlns:p15="http://schemas.microsoft.com/office/powerpoint/2012/main" userId="16f7523a798d7d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437"/>
    <a:srgbClr val="1C1C1B"/>
    <a:srgbClr val="452613"/>
    <a:srgbClr val="FFF0B9"/>
    <a:srgbClr val="F4F6F8"/>
    <a:srgbClr val="F5F6F8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3692" autoAdjust="0"/>
  </p:normalViewPr>
  <p:slideViewPr>
    <p:cSldViewPr snapToGrid="0" snapToObjects="1">
      <p:cViewPr>
        <p:scale>
          <a:sx n="75" d="100"/>
          <a:sy n="75" d="100"/>
        </p:scale>
        <p:origin x="946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</a:t>
            </a:r>
            <a:r>
              <a:rPr lang="en-US" altLang="ko-KR" dirty="0"/>
              <a:t>, </a:t>
            </a:r>
            <a:r>
              <a:rPr lang="ko-KR" altLang="en-US" dirty="0"/>
              <a:t>저가 커피 창업을 고민하고 계신 예비 사장님들을 위해 상권 데이터를 분석해드리는 컨설턴트입니다</a:t>
            </a:r>
            <a:r>
              <a:rPr lang="en-US" altLang="ko-KR" dirty="0"/>
              <a:t>. </a:t>
            </a:r>
            <a:r>
              <a:rPr lang="ko-KR" altLang="en-US" dirty="0"/>
              <a:t>오늘은 커피 시장 현황을 먼저 진단해드리고</a:t>
            </a:r>
            <a:r>
              <a:rPr lang="en-US" altLang="ko-KR" dirty="0"/>
              <a:t>, </a:t>
            </a:r>
            <a:r>
              <a:rPr lang="ko-KR" altLang="en-US" dirty="0"/>
              <a:t>실제 예비 사장님 사례를 통해 상권 조건과 매출</a:t>
            </a:r>
            <a:r>
              <a:rPr lang="en-US" altLang="ko-KR" dirty="0"/>
              <a:t>·</a:t>
            </a:r>
            <a:r>
              <a:rPr lang="ko-KR" altLang="en-US" dirty="0"/>
              <a:t>생존율의 관계를 검증한 뒤</a:t>
            </a:r>
            <a:r>
              <a:rPr lang="en-US" altLang="ko-KR" dirty="0"/>
              <a:t>, </a:t>
            </a:r>
            <a:r>
              <a:rPr lang="ko-KR" altLang="en-US" dirty="0"/>
              <a:t>여러분이 입지를 고를 때 바로 쓰실 수 있는 체크리스트로 마무리하겠습니다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저가 커피 브랜드는 빠르게 늘고 있지만</a:t>
            </a:r>
            <a:r>
              <a:rPr lang="en-US" altLang="ko-KR" dirty="0"/>
              <a:t>, </a:t>
            </a:r>
            <a:r>
              <a:rPr lang="ko-KR" altLang="en-US" dirty="0"/>
              <a:t>모든 매장이 잘 되는 건 아닙니다</a:t>
            </a:r>
            <a:r>
              <a:rPr lang="en-US" altLang="ko-KR" dirty="0"/>
              <a:t>. </a:t>
            </a:r>
            <a:r>
              <a:rPr lang="ko-KR" altLang="en-US" dirty="0"/>
              <a:t>창업을 결심하기 전에 유동인구 시간대</a:t>
            </a:r>
            <a:r>
              <a:rPr lang="en-US" altLang="ko-KR" dirty="0"/>
              <a:t>, </a:t>
            </a:r>
            <a:r>
              <a:rPr lang="ko-KR" altLang="en-US" dirty="0"/>
              <a:t>임대료</a:t>
            </a:r>
            <a:r>
              <a:rPr lang="en-US" altLang="ko-KR" dirty="0"/>
              <a:t>, </a:t>
            </a:r>
            <a:r>
              <a:rPr lang="ko-KR" altLang="en-US" dirty="0"/>
              <a:t>경쟁점포 수라는 세 가지 조건을 반드시 </a:t>
            </a:r>
            <a:r>
              <a:rPr lang="ko-KR" altLang="en-US" dirty="0" err="1"/>
              <a:t>확인하셔야</a:t>
            </a:r>
            <a:r>
              <a:rPr lang="ko-KR" altLang="en-US" dirty="0"/>
              <a:t> 합니다</a:t>
            </a:r>
            <a:r>
              <a:rPr lang="en-US" altLang="ko-KR" dirty="0"/>
              <a:t>. </a:t>
            </a:r>
            <a:r>
              <a:rPr lang="ko-KR" altLang="en-US" dirty="0"/>
              <a:t>오늘은 이 세 가지를 데이터로 뜯어보고</a:t>
            </a:r>
            <a:r>
              <a:rPr lang="en-US" altLang="ko-KR" dirty="0"/>
              <a:t>, </a:t>
            </a:r>
            <a:r>
              <a:rPr lang="ko-KR" altLang="en-US" dirty="0"/>
              <a:t>어떤 조건에서 신규 </a:t>
            </a:r>
            <a:r>
              <a:rPr lang="ko-KR" altLang="en-US" dirty="0" err="1"/>
              <a:t>출점이</a:t>
            </a:r>
            <a:r>
              <a:rPr lang="ko-KR" altLang="en-US" dirty="0"/>
              <a:t> 유리한지 말씀드리겠습니다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여러분이 뛰어들려는 커피 시장이 실제로 얼마나 </a:t>
            </a:r>
            <a:r>
              <a:rPr lang="ko-KR" altLang="en-US" dirty="0" err="1"/>
              <a:t>과포화되어</a:t>
            </a:r>
            <a:r>
              <a:rPr lang="ko-KR" altLang="en-US" dirty="0"/>
              <a:t> </a:t>
            </a:r>
            <a:r>
              <a:rPr lang="ko-KR" altLang="en-US" dirty="0" err="1"/>
              <a:t>있는지부터</a:t>
            </a:r>
            <a:r>
              <a:rPr lang="ko-KR" altLang="en-US" dirty="0"/>
              <a:t> 짚어보겠습니다</a:t>
            </a:r>
            <a:r>
              <a:rPr lang="en-US" altLang="ko-KR" dirty="0"/>
              <a:t>.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저가 커피는 특별한 자격증이나 큰 자본 없이 진입할 수 있습니다</a:t>
            </a:r>
            <a:r>
              <a:rPr lang="en-US" altLang="ko-KR" dirty="0"/>
              <a:t>. </a:t>
            </a:r>
            <a:r>
              <a:rPr lang="ko-KR" altLang="en-US" dirty="0"/>
              <a:t>그래서 점포당 유동인구가 타 업종의 약 </a:t>
            </a:r>
            <a:r>
              <a:rPr lang="en-US" altLang="ko-KR" dirty="0"/>
              <a:t>4</a:t>
            </a:r>
            <a:r>
              <a:rPr lang="ko-KR" altLang="en-US" dirty="0"/>
              <a:t>분의 </a:t>
            </a:r>
            <a:r>
              <a:rPr lang="en-US" altLang="ko-KR" dirty="0"/>
              <a:t>1 </a:t>
            </a:r>
            <a:r>
              <a:rPr lang="ko-KR" altLang="en-US" dirty="0"/>
              <a:t>수준일 것이라고 가정하고</a:t>
            </a:r>
            <a:r>
              <a:rPr lang="en-US" altLang="ko-KR" dirty="0"/>
              <a:t>, </a:t>
            </a:r>
            <a:r>
              <a:rPr lang="ko-KR" altLang="en-US" dirty="0"/>
              <a:t>서울시 상권분석서비스 데이터로 업종별 점포당 평균 유동인구를 비교해봤습니다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결과를 보시면</a:t>
            </a:r>
            <a:r>
              <a:rPr lang="en-US" altLang="ko-KR" dirty="0"/>
              <a:t>, </a:t>
            </a:r>
            <a:r>
              <a:rPr lang="ko-KR" altLang="en-US" dirty="0"/>
              <a:t>주황색으로 표시된 커피</a:t>
            </a:r>
            <a:r>
              <a:rPr lang="en-US" altLang="ko-KR" dirty="0"/>
              <a:t>·</a:t>
            </a:r>
            <a:r>
              <a:rPr lang="ko-KR" altLang="en-US" dirty="0"/>
              <a:t>음료 업종은 전체 업종 평균인 약 </a:t>
            </a:r>
            <a:r>
              <a:rPr lang="en-US" altLang="ko-KR" dirty="0"/>
              <a:t>40</a:t>
            </a:r>
            <a:r>
              <a:rPr lang="ko-KR" altLang="en-US" dirty="0"/>
              <a:t>만 명에 크게 못 미치는 최하위권입니다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실제로는 예상보다 훨씬 심각합니다</a:t>
            </a:r>
            <a:r>
              <a:rPr lang="en-US" altLang="ko-KR" dirty="0"/>
              <a:t>. </a:t>
            </a:r>
            <a:r>
              <a:rPr lang="ko-KR" altLang="en-US" dirty="0"/>
              <a:t>전체 업종 평균이 약 </a:t>
            </a:r>
            <a:r>
              <a:rPr lang="en-US" altLang="ko-KR" dirty="0"/>
              <a:t>40</a:t>
            </a:r>
            <a:r>
              <a:rPr lang="ko-KR" altLang="en-US" dirty="0"/>
              <a:t>만 명인데 커피</a:t>
            </a:r>
            <a:r>
              <a:rPr lang="en-US" altLang="ko-KR" dirty="0"/>
              <a:t>·</a:t>
            </a:r>
            <a:r>
              <a:rPr lang="ko-KR" altLang="en-US" dirty="0"/>
              <a:t>음료는 </a:t>
            </a:r>
            <a:r>
              <a:rPr lang="en-US" altLang="ko-KR" dirty="0"/>
              <a:t>5~6</a:t>
            </a:r>
            <a:r>
              <a:rPr lang="ko-KR" altLang="en-US" dirty="0"/>
              <a:t>만 명 수준으로</a:t>
            </a:r>
            <a:r>
              <a:rPr lang="en-US" altLang="ko-KR" dirty="0"/>
              <a:t>, 7</a:t>
            </a:r>
            <a:r>
              <a:rPr lang="ko-KR" altLang="en-US" dirty="0"/>
              <a:t>분의 </a:t>
            </a:r>
            <a:r>
              <a:rPr lang="en-US" altLang="ko-KR" dirty="0"/>
              <a:t>1</a:t>
            </a:r>
            <a:r>
              <a:rPr lang="ko-KR" altLang="en-US" dirty="0"/>
              <a:t>에서 </a:t>
            </a:r>
            <a:r>
              <a:rPr lang="en-US" altLang="ko-KR" dirty="0"/>
              <a:t>8</a:t>
            </a:r>
            <a:r>
              <a:rPr lang="ko-KR" altLang="en-US" dirty="0"/>
              <a:t>분의 </a:t>
            </a:r>
            <a:r>
              <a:rPr lang="en-US" altLang="ko-KR" dirty="0"/>
              <a:t>1 </a:t>
            </a:r>
            <a:r>
              <a:rPr lang="ko-KR" altLang="en-US" dirty="0"/>
              <a:t>수준의 </a:t>
            </a:r>
            <a:r>
              <a:rPr lang="ko-KR" altLang="en-US" dirty="0" err="1"/>
              <a:t>과밀도입니다</a:t>
            </a:r>
            <a:r>
              <a:rPr lang="en-US" altLang="ko-KR" dirty="0"/>
              <a:t>. </a:t>
            </a:r>
            <a:r>
              <a:rPr lang="ko-KR" altLang="en-US" dirty="0" err="1"/>
              <a:t>신고제</a:t>
            </a:r>
            <a:r>
              <a:rPr lang="ko-KR" altLang="en-US" dirty="0"/>
              <a:t> 업종이라 진입장벽이 낮다 보니 이런 경쟁 강도가 만들어집니다</a:t>
            </a:r>
            <a:r>
              <a:rPr lang="en-US" altLang="ko-KR" dirty="0"/>
              <a:t>. </a:t>
            </a:r>
            <a:r>
              <a:rPr lang="ko-KR" altLang="en-US" dirty="0"/>
              <a:t>이 시장에 들어오신다면 이 전제를 먼저 </a:t>
            </a:r>
            <a:r>
              <a:rPr lang="ko-KR" altLang="en-US" dirty="0" err="1"/>
              <a:t>인지하셔야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그럼 이 과밀 시장에서 실제로 창업을 고민하시는 분의 관점으로 넘어가보겠습니다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예를 들어보겠습니다</a:t>
            </a:r>
            <a:r>
              <a:rPr lang="en-US" altLang="ko-KR" dirty="0"/>
              <a:t>. 8</a:t>
            </a:r>
            <a:r>
              <a:rPr lang="ko-KR" altLang="en-US" dirty="0" err="1"/>
              <a:t>년차</a:t>
            </a:r>
            <a:r>
              <a:rPr lang="ko-KR" altLang="en-US" dirty="0"/>
              <a:t> 직장인 김도현님은 퇴직금과 저축을 합친 </a:t>
            </a:r>
            <a:r>
              <a:rPr lang="en-US" altLang="ko-KR" dirty="0"/>
              <a:t>1.5</a:t>
            </a:r>
            <a:r>
              <a:rPr lang="ko-KR" altLang="en-US" dirty="0"/>
              <a:t>억 원으로 창업을 준비 중입니다</a:t>
            </a:r>
            <a:r>
              <a:rPr lang="en-US" altLang="ko-KR" dirty="0"/>
              <a:t>. </a:t>
            </a:r>
            <a:r>
              <a:rPr lang="ko-KR" altLang="en-US" dirty="0"/>
              <a:t>단순히 사람 많은 곳이 아니라</a:t>
            </a:r>
            <a:r>
              <a:rPr lang="en-US" altLang="ko-KR" dirty="0"/>
              <a:t>, </a:t>
            </a:r>
            <a:r>
              <a:rPr lang="ko-KR" altLang="en-US" dirty="0"/>
              <a:t>시간대별 실질 트래픽</a:t>
            </a:r>
            <a:r>
              <a:rPr lang="en-US" altLang="ko-KR" dirty="0"/>
              <a:t>, </a:t>
            </a:r>
            <a:r>
              <a:rPr lang="ko-KR" altLang="en-US" dirty="0"/>
              <a:t>임대료 부담</a:t>
            </a:r>
            <a:r>
              <a:rPr lang="en-US" altLang="ko-KR" dirty="0"/>
              <a:t>, </a:t>
            </a:r>
            <a:r>
              <a:rPr lang="ko-KR" altLang="en-US" dirty="0"/>
              <a:t>경쟁 밀집도</a:t>
            </a:r>
            <a:r>
              <a:rPr lang="en-US" altLang="ko-KR" dirty="0"/>
              <a:t>, </a:t>
            </a:r>
            <a:r>
              <a:rPr lang="ko-KR" altLang="en-US" dirty="0"/>
              <a:t>진입 시점 리스크까지 확인하고 싶어하십니다</a:t>
            </a:r>
            <a:r>
              <a:rPr lang="en-US" altLang="ko-KR" dirty="0"/>
              <a:t>. </a:t>
            </a:r>
            <a:r>
              <a:rPr lang="ko-KR" altLang="en-US" dirty="0"/>
              <a:t>오늘 제가 검증한 내용이 바로 이 네 가지 질문에 대한 답입니다</a:t>
            </a:r>
            <a:r>
              <a:rPr lang="en-US" altLang="ko-KR" dirty="0"/>
              <a:t>. </a:t>
            </a:r>
            <a:r>
              <a:rPr lang="ko-KR" altLang="en-US" dirty="0"/>
              <a:t>여러분도 창업 전에 똑같이 </a:t>
            </a:r>
            <a:r>
              <a:rPr lang="ko-KR" altLang="en-US" dirty="0" err="1"/>
              <a:t>확인하셔야</a:t>
            </a:r>
            <a:r>
              <a:rPr lang="ko-KR" altLang="en-US" dirty="0"/>
              <a:t> 할 항목들입니다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같은 저가 커피라도 잘 되는 매장과 문을 닫는 매장이 갈립니다</a:t>
            </a:r>
            <a:r>
              <a:rPr lang="en-US" altLang="ko-KR" dirty="0"/>
              <a:t>. </a:t>
            </a:r>
            <a:r>
              <a:rPr lang="ko-KR" altLang="en-US" dirty="0"/>
              <a:t>이 차이를 유동인구 성격</a:t>
            </a:r>
            <a:r>
              <a:rPr lang="en-US" altLang="ko-KR" dirty="0"/>
              <a:t>, </a:t>
            </a:r>
            <a:r>
              <a:rPr lang="ko-KR" altLang="en-US" dirty="0"/>
              <a:t>비용 구조</a:t>
            </a:r>
            <a:r>
              <a:rPr lang="en-US" altLang="ko-KR" dirty="0"/>
              <a:t>, </a:t>
            </a:r>
            <a:r>
              <a:rPr lang="ko-KR" altLang="en-US" dirty="0"/>
              <a:t>경쟁 구도 세 가지 질문으로 나눠서 검증해드리겠습니다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</a:t>
            </a:r>
            <a:r>
              <a:rPr lang="en-US" altLang="ko-KR" dirty="0"/>
              <a:t>, </a:t>
            </a:r>
            <a:r>
              <a:rPr lang="ko-KR" altLang="en-US" dirty="0"/>
              <a:t>어떤 시간대 유동인구를 </a:t>
            </a:r>
            <a:r>
              <a:rPr lang="ko-KR" altLang="en-US" dirty="0" err="1"/>
              <a:t>보셔야</a:t>
            </a:r>
            <a:r>
              <a:rPr lang="ko-KR" altLang="en-US" dirty="0"/>
              <a:t> </a:t>
            </a:r>
            <a:r>
              <a:rPr lang="ko-KR" altLang="en-US" dirty="0" err="1"/>
              <a:t>하는가입니다</a:t>
            </a:r>
            <a:r>
              <a:rPr lang="en-US" altLang="ko-KR" dirty="0"/>
              <a:t>. </a:t>
            </a:r>
            <a:r>
              <a:rPr lang="ko-KR" altLang="en-US" dirty="0"/>
              <a:t>매출과 </a:t>
            </a:r>
            <a:r>
              <a:rPr lang="ko-KR" altLang="en-US" dirty="0" err="1"/>
              <a:t>생존력은</a:t>
            </a:r>
            <a:r>
              <a:rPr lang="ko-KR" altLang="en-US" dirty="0"/>
              <a:t> 하루 총 유동인구보다 출근</a:t>
            </a:r>
            <a:r>
              <a:rPr lang="en-US" altLang="ko-KR" dirty="0"/>
              <a:t>·</a:t>
            </a:r>
            <a:r>
              <a:rPr lang="ko-KR" altLang="en-US" dirty="0"/>
              <a:t>점심시간대인 </a:t>
            </a:r>
            <a:r>
              <a:rPr lang="en-US" altLang="ko-KR" dirty="0"/>
              <a:t>08</a:t>
            </a:r>
            <a:r>
              <a:rPr lang="ko-KR" altLang="en-US" dirty="0"/>
              <a:t>시에서 </a:t>
            </a:r>
            <a:r>
              <a:rPr lang="en-US" altLang="ko-KR" dirty="0"/>
              <a:t>14</a:t>
            </a:r>
            <a:r>
              <a:rPr lang="ko-KR" altLang="en-US" dirty="0"/>
              <a:t>시 유동인구 비중과 더 강한 관계를 보일 것이라 가정했습니다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출근시간대인 </a:t>
            </a:r>
            <a:r>
              <a:rPr lang="en-US" altLang="ko-KR" dirty="0"/>
              <a:t>06~11</a:t>
            </a:r>
            <a:r>
              <a:rPr lang="ko-KR" altLang="en-US" dirty="0"/>
              <a:t>시에는 유동인구가 완만한 수준에서 매출도 낮은 편입니다</a:t>
            </a:r>
            <a:r>
              <a:rPr lang="en-US" altLang="ko-KR" dirty="0"/>
              <a:t>. 11~14</a:t>
            </a:r>
            <a:r>
              <a:rPr lang="ko-KR" altLang="en-US" dirty="0"/>
              <a:t>시 점심시간에는 유동인구가 크게 늘지 않는데도 매출만 폭발적으로 치솟습니다</a:t>
            </a:r>
            <a:r>
              <a:rPr lang="en-US" altLang="ko-KR" dirty="0"/>
              <a:t>. </a:t>
            </a:r>
            <a:r>
              <a:rPr lang="ko-KR" altLang="en-US" dirty="0"/>
              <a:t>오후 </a:t>
            </a:r>
            <a:r>
              <a:rPr lang="en-US" altLang="ko-KR" dirty="0"/>
              <a:t>14~17</a:t>
            </a:r>
            <a:r>
              <a:rPr lang="ko-KR" altLang="en-US" dirty="0"/>
              <a:t>시엔 유동인구와 매출 모두 소강상태를 보이다가</a:t>
            </a:r>
            <a:r>
              <a:rPr lang="en-US" altLang="ko-KR" dirty="0"/>
              <a:t>, 17~21</a:t>
            </a:r>
            <a:r>
              <a:rPr lang="ko-KR" altLang="en-US" dirty="0"/>
              <a:t>시 저녁엔 유동인구가 다시 늘어나는 것과 달리 매출은 오히려 꺾입니다</a:t>
            </a:r>
            <a:r>
              <a:rPr lang="en-US" altLang="ko-KR" dirty="0"/>
              <a:t>. </a:t>
            </a:r>
            <a:r>
              <a:rPr lang="ko-KR" altLang="en-US" dirty="0"/>
              <a:t>여러분이 상권을 볼 때 유동인구 숫자만 보고 판단하시면 안 되는 이유가 여기 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메가커피</a:t>
            </a:r>
            <a:r>
              <a:rPr lang="en-US" altLang="ko-KR" dirty="0"/>
              <a:t>, </a:t>
            </a:r>
            <a:r>
              <a:rPr lang="ko-KR" altLang="en-US" dirty="0" err="1"/>
              <a:t>컴포즈</a:t>
            </a:r>
            <a:r>
              <a:rPr lang="en-US" altLang="ko-KR" dirty="0"/>
              <a:t>, </a:t>
            </a:r>
            <a:r>
              <a:rPr lang="ko-KR" altLang="en-US" dirty="0" err="1"/>
              <a:t>빽다방</a:t>
            </a:r>
            <a:r>
              <a:rPr lang="ko-KR" altLang="en-US" dirty="0"/>
              <a:t> 저가 커피 대표 </a:t>
            </a:r>
            <a:r>
              <a:rPr lang="en-US" altLang="ko-KR" dirty="0"/>
              <a:t>3</a:t>
            </a:r>
            <a:r>
              <a:rPr lang="ko-KR" altLang="en-US" dirty="0"/>
              <a:t>대장을 비교해본 결과입니다</a:t>
            </a:r>
            <a:r>
              <a:rPr lang="en-US" altLang="ko-KR" dirty="0"/>
              <a:t>. </a:t>
            </a:r>
            <a:r>
              <a:rPr lang="ko-KR" altLang="en-US" dirty="0"/>
              <a:t>메가커피는 점심 피크 매출이 약 </a:t>
            </a:r>
            <a:r>
              <a:rPr lang="en-US" altLang="ko-KR" dirty="0"/>
              <a:t>381</a:t>
            </a:r>
            <a:r>
              <a:rPr lang="ko-KR" altLang="en-US" dirty="0"/>
              <a:t>억 원으로 다른 두 브랜드를 앞섰고</a:t>
            </a:r>
            <a:r>
              <a:rPr lang="en-US" altLang="ko-KR" dirty="0"/>
              <a:t>, </a:t>
            </a:r>
            <a:r>
              <a:rPr lang="ko-KR" altLang="en-US" dirty="0"/>
              <a:t>입점 상권 수도 </a:t>
            </a:r>
            <a:r>
              <a:rPr lang="en-US" altLang="ko-KR" dirty="0"/>
              <a:t>627</a:t>
            </a:r>
            <a:r>
              <a:rPr lang="ko-KR" altLang="en-US" dirty="0"/>
              <a:t>개로 가장 많았습니다</a:t>
            </a:r>
            <a:r>
              <a:rPr lang="en-US" altLang="ko-KR" dirty="0"/>
              <a:t>. </a:t>
            </a:r>
            <a:r>
              <a:rPr lang="ko-KR" altLang="en-US" dirty="0"/>
              <a:t>결국 점심 피크타임 실질 트래픽이 매출을 결정하며</a:t>
            </a:r>
            <a:r>
              <a:rPr lang="en-US" altLang="ko-KR" dirty="0"/>
              <a:t>, </a:t>
            </a:r>
            <a:r>
              <a:rPr lang="ko-KR" altLang="en-US" dirty="0"/>
              <a:t>여러분도 입지를 볼 때 이 지표를 최우선으로 </a:t>
            </a:r>
            <a:r>
              <a:rPr lang="ko-KR" altLang="en-US" dirty="0" err="1"/>
              <a:t>확인하셔야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번째</a:t>
            </a:r>
            <a:r>
              <a:rPr lang="en-US" altLang="ko-KR" dirty="0"/>
              <a:t>, </a:t>
            </a:r>
            <a:r>
              <a:rPr lang="ko-KR" altLang="en-US" dirty="0"/>
              <a:t>임대료입니다</a:t>
            </a:r>
            <a:r>
              <a:rPr lang="en-US" altLang="ko-KR" dirty="0"/>
              <a:t>. </a:t>
            </a:r>
            <a:r>
              <a:rPr lang="ko-KR" altLang="en-US" dirty="0"/>
              <a:t>마진이 낮은 저가 커피 특성상</a:t>
            </a:r>
            <a:r>
              <a:rPr lang="en-US" altLang="ko-KR" dirty="0"/>
              <a:t>, </a:t>
            </a:r>
            <a:r>
              <a:rPr lang="ko-KR" altLang="en-US" dirty="0"/>
              <a:t>임대료 상위 </a:t>
            </a:r>
            <a:r>
              <a:rPr lang="en-US" altLang="ko-KR" dirty="0"/>
              <a:t>10%</a:t>
            </a:r>
            <a:r>
              <a:rPr lang="ko-KR" altLang="en-US" dirty="0"/>
              <a:t>인 초고가 역세권은 </a:t>
            </a:r>
            <a:r>
              <a:rPr lang="ko-KR" altLang="en-US" dirty="0" err="1"/>
              <a:t>피하셔야</a:t>
            </a:r>
            <a:r>
              <a:rPr lang="ko-KR" altLang="en-US" dirty="0"/>
              <a:t> 할 것 같지 </a:t>
            </a:r>
            <a:r>
              <a:rPr lang="ko-KR" altLang="en-US" dirty="0" err="1"/>
              <a:t>않으신가요</a:t>
            </a:r>
            <a:r>
              <a:rPr lang="en-US" altLang="ko-KR" dirty="0"/>
              <a:t>? </a:t>
            </a:r>
            <a:r>
              <a:rPr lang="ko-KR" altLang="en-US" dirty="0"/>
              <a:t>이 직관을 검증해봤습니다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결과는 예상과 달랐습니다</a:t>
            </a:r>
            <a:r>
              <a:rPr lang="en-US" altLang="ko-KR" dirty="0"/>
              <a:t>. </a:t>
            </a:r>
            <a:r>
              <a:rPr lang="ko-KR" altLang="en-US" dirty="0"/>
              <a:t>임대료 상위 </a:t>
            </a:r>
            <a:r>
              <a:rPr lang="en-US" altLang="ko-KR" dirty="0"/>
              <a:t>10% </a:t>
            </a:r>
            <a:r>
              <a:rPr lang="ko-KR" altLang="en-US" dirty="0"/>
              <a:t>초고가 상권은 트래픽이 커서 </a:t>
            </a:r>
            <a:r>
              <a:rPr lang="ko-KR" altLang="en-US" dirty="0" err="1"/>
              <a:t>폐업률도</a:t>
            </a:r>
            <a:r>
              <a:rPr lang="ko-KR" altLang="en-US" dirty="0"/>
              <a:t> </a:t>
            </a:r>
            <a:r>
              <a:rPr lang="en-US" altLang="ko-KR" dirty="0"/>
              <a:t>4~5%</a:t>
            </a:r>
            <a:r>
              <a:rPr lang="ko-KR" altLang="en-US" dirty="0"/>
              <a:t>로 오히려 안정적입니다</a:t>
            </a:r>
            <a:r>
              <a:rPr lang="en-US" altLang="ko-KR" dirty="0"/>
              <a:t>. </a:t>
            </a:r>
            <a:r>
              <a:rPr lang="ko-KR" altLang="en-US" dirty="0"/>
              <a:t>반면 유동인구 </a:t>
            </a:r>
            <a:r>
              <a:rPr lang="en-US" altLang="ko-KR" dirty="0"/>
              <a:t>100</a:t>
            </a:r>
            <a:r>
              <a:rPr lang="ko-KR" altLang="en-US" dirty="0"/>
              <a:t>만에서 </a:t>
            </a:r>
            <a:r>
              <a:rPr lang="en-US" altLang="ko-KR" dirty="0"/>
              <a:t>250</a:t>
            </a:r>
            <a:r>
              <a:rPr lang="ko-KR" altLang="en-US" dirty="0"/>
              <a:t>만 명 수준의 평범한 상권에서 </a:t>
            </a:r>
            <a:r>
              <a:rPr lang="ko-KR" altLang="en-US" dirty="0" err="1"/>
              <a:t>폐업률이</a:t>
            </a:r>
            <a:r>
              <a:rPr lang="ko-KR" altLang="en-US" dirty="0"/>
              <a:t> </a:t>
            </a:r>
            <a:r>
              <a:rPr lang="en-US" altLang="ko-KR" dirty="0"/>
              <a:t>15~43%</a:t>
            </a:r>
            <a:r>
              <a:rPr lang="ko-KR" altLang="en-US" dirty="0"/>
              <a:t>까지 치솟았습니다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여러분이 </a:t>
            </a:r>
            <a:r>
              <a:rPr lang="ko-KR" altLang="en-US" dirty="0" err="1"/>
              <a:t>조심하셔야</a:t>
            </a:r>
            <a:r>
              <a:rPr lang="ko-KR" altLang="en-US" dirty="0"/>
              <a:t> 할 곳은 초고가 상권이 아니라</a:t>
            </a:r>
            <a:r>
              <a:rPr lang="en-US" altLang="ko-KR" dirty="0"/>
              <a:t>, </a:t>
            </a:r>
            <a:r>
              <a:rPr lang="ko-KR" altLang="en-US" dirty="0"/>
              <a:t>애매한 중</a:t>
            </a:r>
            <a:r>
              <a:rPr lang="en-US" altLang="ko-KR" dirty="0"/>
              <a:t>·</a:t>
            </a:r>
            <a:r>
              <a:rPr lang="ko-KR" altLang="en-US" dirty="0"/>
              <a:t>고가 상권입니다</a:t>
            </a:r>
            <a:r>
              <a:rPr lang="en-US" altLang="ko-KR" dirty="0"/>
              <a:t>. </a:t>
            </a:r>
            <a:r>
              <a:rPr lang="ko-KR" altLang="en-US" dirty="0"/>
              <a:t>트래픽은 임대료를 감당할 만큼 크지 않은데 고정비는 부담스러운</a:t>
            </a:r>
            <a:r>
              <a:rPr lang="en-US" altLang="ko-KR" dirty="0"/>
              <a:t>, </a:t>
            </a:r>
            <a:r>
              <a:rPr lang="ko-KR" altLang="en-US" dirty="0"/>
              <a:t>딱 이런 어중간한 상권이 위험합니다</a:t>
            </a:r>
            <a:r>
              <a:rPr lang="en-US" altLang="ko-KR" dirty="0"/>
              <a:t>. </a:t>
            </a:r>
            <a:r>
              <a:rPr lang="ko-KR" altLang="en-US" dirty="0"/>
              <a:t>왜 이런 상권에서 </a:t>
            </a:r>
            <a:r>
              <a:rPr lang="ko-KR" altLang="en-US" dirty="0" err="1"/>
              <a:t>폐업률이</a:t>
            </a:r>
            <a:r>
              <a:rPr lang="ko-KR" altLang="en-US" dirty="0"/>
              <a:t> 치솟는지 한 단계 더 들어가보겠습니다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원인은 과밀 </a:t>
            </a:r>
            <a:r>
              <a:rPr lang="ko-KR" altLang="en-US" dirty="0" err="1"/>
              <a:t>출점입니다</a:t>
            </a:r>
            <a:r>
              <a:rPr lang="en-US" altLang="ko-KR" dirty="0"/>
              <a:t>. </a:t>
            </a:r>
            <a:r>
              <a:rPr lang="ko-KR" altLang="en-US" dirty="0"/>
              <a:t>동일 행정동에 저가 커피 </a:t>
            </a:r>
            <a:r>
              <a:rPr lang="en-US" altLang="ko-KR" dirty="0"/>
              <a:t>5</a:t>
            </a:r>
            <a:r>
              <a:rPr lang="ko-KR" altLang="en-US" dirty="0"/>
              <a:t>개사가 몰리면</a:t>
            </a:r>
            <a:r>
              <a:rPr lang="en-US" altLang="ko-KR" dirty="0"/>
              <a:t>, </a:t>
            </a:r>
            <a:r>
              <a:rPr lang="ko-KR" altLang="en-US" dirty="0"/>
              <a:t>유동인구를 점포 수로 나눈 유효 유동인구가 </a:t>
            </a:r>
            <a:r>
              <a:rPr lang="en-US" altLang="ko-KR" dirty="0"/>
              <a:t>20</a:t>
            </a:r>
            <a:r>
              <a:rPr lang="ko-KR" altLang="en-US" dirty="0"/>
              <a:t>만 명 미만으로 쪼개집니다</a:t>
            </a:r>
            <a:r>
              <a:rPr lang="en-US" altLang="ko-KR" dirty="0"/>
              <a:t>. </a:t>
            </a:r>
            <a:r>
              <a:rPr lang="ko-KR" altLang="en-US" dirty="0"/>
              <a:t>고위험 상권은 전부 이 구간에 있었고</a:t>
            </a:r>
            <a:r>
              <a:rPr lang="en-US" altLang="ko-KR" dirty="0"/>
              <a:t>, </a:t>
            </a:r>
            <a:r>
              <a:rPr lang="ko-KR" altLang="en-US" dirty="0"/>
              <a:t>유효 유동인구가 </a:t>
            </a:r>
            <a:r>
              <a:rPr lang="en-US" altLang="ko-KR" dirty="0"/>
              <a:t>40</a:t>
            </a:r>
            <a:r>
              <a:rPr lang="ko-KR" altLang="en-US" dirty="0"/>
              <a:t>만 명 이상이면 </a:t>
            </a:r>
            <a:r>
              <a:rPr lang="ko-KR" altLang="en-US" dirty="0" err="1"/>
              <a:t>폐업률은</a:t>
            </a:r>
            <a:r>
              <a:rPr lang="ko-KR" altLang="en-US" dirty="0"/>
              <a:t> </a:t>
            </a:r>
            <a:r>
              <a:rPr lang="en-US" altLang="ko-KR" dirty="0"/>
              <a:t>5% </a:t>
            </a:r>
            <a:r>
              <a:rPr lang="ko-KR" altLang="en-US" dirty="0"/>
              <a:t>내외로 안정됩니다</a:t>
            </a:r>
            <a:r>
              <a:rPr lang="en-US" altLang="ko-KR" dirty="0"/>
              <a:t>. </a:t>
            </a:r>
            <a:r>
              <a:rPr lang="ko-KR" altLang="en-US" dirty="0"/>
              <a:t>여러분이 입지를 고르실 때는 임대료 숫자만 보지 마시고</a:t>
            </a:r>
            <a:r>
              <a:rPr lang="en-US" altLang="ko-KR" dirty="0"/>
              <a:t>, </a:t>
            </a:r>
            <a:r>
              <a:rPr lang="ko-KR" altLang="en-US" dirty="0"/>
              <a:t>이 유효 유동인구를 반드시 </a:t>
            </a:r>
            <a:r>
              <a:rPr lang="ko-KR" altLang="en-US" dirty="0" err="1"/>
              <a:t>계산해보셔야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번째</a:t>
            </a:r>
            <a:r>
              <a:rPr lang="en-US" altLang="ko-KR" dirty="0"/>
              <a:t>, </a:t>
            </a:r>
            <a:r>
              <a:rPr lang="ko-KR" altLang="en-US" dirty="0"/>
              <a:t>먼저 들어가는 게 유리한지</a:t>
            </a:r>
            <a:r>
              <a:rPr lang="en-US" altLang="ko-KR" dirty="0"/>
              <a:t>, </a:t>
            </a:r>
            <a:r>
              <a:rPr lang="ko-KR" altLang="en-US" dirty="0"/>
              <a:t>아니면 늦게 들어가도 </a:t>
            </a:r>
            <a:r>
              <a:rPr lang="ko-KR" altLang="en-US" dirty="0" err="1"/>
              <a:t>괜찮은지</a:t>
            </a:r>
            <a:r>
              <a:rPr lang="ko-KR" altLang="en-US" dirty="0"/>
              <a:t> 입니다</a:t>
            </a:r>
            <a:r>
              <a:rPr lang="en-US" altLang="ko-KR" dirty="0"/>
              <a:t>. </a:t>
            </a:r>
            <a:r>
              <a:rPr lang="ko-KR" altLang="en-US" dirty="0"/>
              <a:t>최초 진입한 선점 점포는 </a:t>
            </a:r>
            <a:r>
              <a:rPr lang="ko-KR" altLang="en-US" dirty="0" err="1"/>
              <a:t>폐업률이</a:t>
            </a:r>
            <a:r>
              <a:rPr lang="ko-KR" altLang="en-US" dirty="0"/>
              <a:t> 낮고</a:t>
            </a:r>
            <a:r>
              <a:rPr lang="en-US" altLang="ko-KR" dirty="0"/>
              <a:t>, </a:t>
            </a:r>
            <a:r>
              <a:rPr lang="ko-KR" altLang="en-US" dirty="0"/>
              <a:t>경쟁사가 </a:t>
            </a:r>
            <a:r>
              <a:rPr lang="en-US" altLang="ko-KR" dirty="0"/>
              <a:t>2</a:t>
            </a:r>
            <a:r>
              <a:rPr lang="ko-KR" altLang="en-US" dirty="0"/>
              <a:t>곳 이상인 블록에 뒤늦게 들어간 후발 점포는 폐업 위험이 </a:t>
            </a:r>
            <a:r>
              <a:rPr lang="en-US" altLang="ko-KR" dirty="0"/>
              <a:t>3</a:t>
            </a:r>
            <a:r>
              <a:rPr lang="ko-KR" altLang="en-US" dirty="0"/>
              <a:t>배 이상 높을 것이라 가정했습니다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 평균으로 보면 선점 점포 </a:t>
            </a:r>
            <a:r>
              <a:rPr lang="ko-KR" altLang="en-US" dirty="0" err="1"/>
              <a:t>폐업률은</a:t>
            </a:r>
            <a:r>
              <a:rPr lang="ko-KR" altLang="en-US" dirty="0"/>
              <a:t> </a:t>
            </a:r>
            <a:r>
              <a:rPr lang="en-US" altLang="ko-KR" dirty="0"/>
              <a:t>11.04%, </a:t>
            </a:r>
            <a:r>
              <a:rPr lang="ko-KR" altLang="en-US" dirty="0"/>
              <a:t>후발 점포는 </a:t>
            </a:r>
            <a:r>
              <a:rPr lang="en-US" altLang="ko-KR" dirty="0"/>
              <a:t>13.01%</a:t>
            </a:r>
            <a:r>
              <a:rPr lang="ko-KR" altLang="en-US" dirty="0"/>
              <a:t>로 후발이 다소 불리합니다</a:t>
            </a:r>
            <a:r>
              <a:rPr lang="en-US" altLang="ko-KR" dirty="0"/>
              <a:t>. </a:t>
            </a:r>
            <a:r>
              <a:rPr lang="ko-KR" altLang="en-US" dirty="0"/>
              <a:t>그런데 브랜드별로 뜯어보면 얘기가 달라집니다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메가</a:t>
            </a:r>
            <a:r>
              <a:rPr lang="en-US" altLang="ko-KR" dirty="0"/>
              <a:t>MGC·</a:t>
            </a:r>
            <a:r>
              <a:rPr lang="ko-KR" altLang="en-US" dirty="0"/>
              <a:t>매머드</a:t>
            </a:r>
            <a:r>
              <a:rPr lang="en-US" altLang="ko-KR" dirty="0"/>
              <a:t>·</a:t>
            </a:r>
            <a:r>
              <a:rPr lang="ko-KR" altLang="en-US" dirty="0" err="1"/>
              <a:t>빽다방은</a:t>
            </a:r>
            <a:r>
              <a:rPr lang="ko-KR" altLang="en-US" dirty="0"/>
              <a:t> 오히려 후발 점포 </a:t>
            </a:r>
            <a:r>
              <a:rPr lang="ko-KR" altLang="en-US" dirty="0" err="1"/>
              <a:t>폐업률이</a:t>
            </a:r>
            <a:r>
              <a:rPr lang="ko-KR" altLang="en-US" dirty="0"/>
              <a:t> 선점보다 낮거나 비슷합니다</a:t>
            </a:r>
            <a:r>
              <a:rPr lang="en-US" altLang="ko-KR" dirty="0"/>
              <a:t>. </a:t>
            </a:r>
            <a:r>
              <a:rPr lang="ko-KR" altLang="en-US" dirty="0"/>
              <a:t>반면 </a:t>
            </a:r>
            <a:r>
              <a:rPr lang="ko-KR" altLang="en-US" dirty="0" err="1"/>
              <a:t>더벤티와</a:t>
            </a:r>
            <a:r>
              <a:rPr lang="ko-KR" altLang="en-US" dirty="0"/>
              <a:t> </a:t>
            </a:r>
            <a:r>
              <a:rPr lang="ko-KR" altLang="en-US" dirty="0" err="1"/>
              <a:t>컴포즈커피는</a:t>
            </a:r>
            <a:r>
              <a:rPr lang="ko-KR" altLang="en-US" dirty="0"/>
              <a:t> 후발 점포 </a:t>
            </a:r>
            <a:r>
              <a:rPr lang="ko-KR" altLang="en-US" dirty="0" err="1"/>
              <a:t>폐업률이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배 이상 뜁니다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결론적으로</a:t>
            </a:r>
            <a:r>
              <a:rPr lang="en-US" altLang="ko-KR" dirty="0"/>
              <a:t>, </a:t>
            </a:r>
            <a:r>
              <a:rPr lang="ko-KR" altLang="en-US" dirty="0"/>
              <a:t>선점이냐 </a:t>
            </a:r>
            <a:r>
              <a:rPr lang="ko-KR" altLang="en-US" dirty="0" err="1"/>
              <a:t>후발이냐보다</a:t>
            </a:r>
            <a:r>
              <a:rPr lang="ko-KR" altLang="en-US" dirty="0"/>
              <a:t> 어떤 브랜드로 창업하시느냐가 더 중요합니다</a:t>
            </a:r>
            <a:r>
              <a:rPr lang="en-US" altLang="ko-KR" dirty="0"/>
              <a:t>. </a:t>
            </a:r>
            <a:r>
              <a:rPr lang="ko-KR" altLang="en-US" dirty="0"/>
              <a:t>브랜드 인지도와 충성 고객층이 있다면 늦게 </a:t>
            </a:r>
            <a:r>
              <a:rPr lang="ko-KR" altLang="en-US" dirty="0" err="1"/>
              <a:t>들어가셔도</a:t>
            </a:r>
            <a:r>
              <a:rPr lang="ko-KR" altLang="en-US" dirty="0"/>
              <a:t> 괜찮지만</a:t>
            </a:r>
            <a:r>
              <a:rPr lang="en-US" altLang="ko-KR" dirty="0"/>
              <a:t>, </a:t>
            </a:r>
            <a:r>
              <a:rPr lang="ko-KR" altLang="en-US" dirty="0"/>
              <a:t>그렇지 않다면 이미 경쟁사가 </a:t>
            </a:r>
            <a:r>
              <a:rPr lang="en-US" altLang="ko-KR" dirty="0"/>
              <a:t>2</a:t>
            </a:r>
            <a:r>
              <a:rPr lang="ko-KR" altLang="en-US" dirty="0"/>
              <a:t>곳 이상 있는 블록은 </a:t>
            </a:r>
            <a:r>
              <a:rPr lang="ko-KR" altLang="en-US" dirty="0" err="1"/>
              <a:t>피하셔야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 살펴본 세 가지 검증 결과를</a:t>
            </a:r>
            <a:r>
              <a:rPr lang="en-US" altLang="ko-KR" dirty="0"/>
              <a:t>, </a:t>
            </a:r>
            <a:r>
              <a:rPr lang="ko-KR" altLang="en-US" dirty="0"/>
              <a:t>여러분이 실제로 입지를 고르실 때 바로 쓰실 수 있는 체크리스트로 정리해드리겠습니다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 가지입니다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하루 총 유동인구가 아니라 점심 피크시간대 트래픽을 최우선으로 확인하십시오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극단적인 고가</a:t>
            </a:r>
            <a:r>
              <a:rPr lang="en-US" altLang="ko-KR" dirty="0"/>
              <a:t>·</a:t>
            </a:r>
            <a:r>
              <a:rPr lang="ko-KR" altLang="en-US" dirty="0"/>
              <a:t>저가보다 애매한 중가 임대료 상권을 오히려 경계하십시오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유효 유동인구 </a:t>
            </a:r>
            <a:r>
              <a:rPr lang="en-US" altLang="ko-KR" dirty="0"/>
              <a:t>40</a:t>
            </a:r>
            <a:r>
              <a:rPr lang="ko-KR" altLang="en-US" dirty="0"/>
              <a:t>만 명 이상</a:t>
            </a:r>
            <a:r>
              <a:rPr lang="en-US" altLang="ko-KR" dirty="0"/>
              <a:t>, </a:t>
            </a:r>
            <a:r>
              <a:rPr lang="ko-KR" altLang="en-US" dirty="0"/>
              <a:t>동일 상권 내 </a:t>
            </a:r>
            <a:r>
              <a:rPr lang="en-US" altLang="ko-KR" dirty="0"/>
              <a:t>5</a:t>
            </a:r>
            <a:r>
              <a:rPr lang="ko-KR" altLang="en-US" dirty="0"/>
              <a:t>개사 밀집 여부를 반드시 계산해보십시오</a:t>
            </a:r>
            <a:r>
              <a:rPr lang="en-US" altLang="ko-KR" dirty="0"/>
              <a:t>. </a:t>
            </a:r>
            <a:r>
              <a:rPr lang="ko-KR" altLang="en-US" dirty="0"/>
              <a:t>넷째</a:t>
            </a:r>
            <a:r>
              <a:rPr lang="en-US" altLang="ko-KR" dirty="0"/>
              <a:t>, </a:t>
            </a:r>
            <a:r>
              <a:rPr lang="ko-KR" altLang="en-US" dirty="0"/>
              <a:t>선점 기회가 없다면 </a:t>
            </a:r>
            <a:r>
              <a:rPr lang="ko-KR" altLang="en-US" dirty="0" err="1"/>
              <a:t>브랜드력에</a:t>
            </a:r>
            <a:r>
              <a:rPr lang="ko-KR" altLang="en-US" dirty="0"/>
              <a:t> 맞는 진입 전략을 선택하십시오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검증한 다섯 가지를 한 장으로 정리하면</a:t>
            </a:r>
            <a:r>
              <a:rPr lang="en-US" altLang="ko-KR" dirty="0"/>
              <a:t>, </a:t>
            </a:r>
            <a:r>
              <a:rPr lang="ko-KR" altLang="en-US" dirty="0"/>
              <a:t>시장 과포화</a:t>
            </a:r>
            <a:r>
              <a:rPr lang="en-US" altLang="ko-KR" dirty="0"/>
              <a:t>, </a:t>
            </a:r>
            <a:r>
              <a:rPr lang="ko-KR" altLang="en-US" dirty="0"/>
              <a:t>피크타임 중심 매출</a:t>
            </a:r>
            <a:r>
              <a:rPr lang="en-US" altLang="ko-KR" dirty="0"/>
              <a:t>, </a:t>
            </a:r>
            <a:r>
              <a:rPr lang="ko-KR" altLang="en-US" dirty="0"/>
              <a:t>임대료의 비선형적 함정</a:t>
            </a:r>
            <a:r>
              <a:rPr lang="en-US" altLang="ko-KR" dirty="0"/>
              <a:t>, </a:t>
            </a:r>
            <a:r>
              <a:rPr lang="ko-KR" altLang="en-US" dirty="0"/>
              <a:t>과밀 </a:t>
            </a:r>
            <a:r>
              <a:rPr lang="ko-KR" altLang="en-US" dirty="0" err="1"/>
              <a:t>출점의</a:t>
            </a:r>
            <a:r>
              <a:rPr lang="ko-KR" altLang="en-US" dirty="0"/>
              <a:t> 위험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ko-KR" altLang="en-US" dirty="0" err="1"/>
              <a:t>브랜드력이</a:t>
            </a:r>
            <a:r>
              <a:rPr lang="ko-KR" altLang="en-US" dirty="0"/>
              <a:t> 만드는 예외까지</a:t>
            </a:r>
            <a:r>
              <a:rPr lang="en-US" altLang="ko-KR" dirty="0"/>
              <a:t>, </a:t>
            </a:r>
            <a:r>
              <a:rPr lang="ko-KR" altLang="en-US" dirty="0"/>
              <a:t>여러분이 창업 전에 꼭 </a:t>
            </a:r>
            <a:r>
              <a:rPr lang="ko-KR" altLang="en-US" dirty="0" err="1"/>
              <a:t>확인하셔야</a:t>
            </a:r>
            <a:r>
              <a:rPr lang="ko-KR" altLang="en-US" dirty="0"/>
              <a:t> 할 조건들입니다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한 가지 말씀드립니다</a:t>
            </a:r>
            <a:r>
              <a:rPr lang="en-US" altLang="ko-KR" dirty="0"/>
              <a:t>. </a:t>
            </a:r>
            <a:r>
              <a:rPr lang="ko-KR" altLang="en-US" dirty="0"/>
              <a:t>저가 커피와 고가 커피 브랜드 간</a:t>
            </a:r>
            <a:r>
              <a:rPr lang="en-US" altLang="ko-KR" dirty="0"/>
              <a:t>, </a:t>
            </a:r>
            <a:r>
              <a:rPr lang="ko-KR" altLang="en-US" dirty="0"/>
              <a:t>그리고 메가커피와 타 저가 브랜드 간 신규 </a:t>
            </a:r>
            <a:r>
              <a:rPr lang="ko-KR" altLang="en-US" dirty="0" err="1"/>
              <a:t>개점율</a:t>
            </a:r>
            <a:r>
              <a:rPr lang="ko-KR" altLang="en-US" dirty="0"/>
              <a:t> 비교는 공개 데이터의 한계로 이번 분석에는 담지 못했습니다</a:t>
            </a:r>
            <a:r>
              <a:rPr lang="en-US" altLang="ko-KR" dirty="0"/>
              <a:t>. </a:t>
            </a:r>
            <a:r>
              <a:rPr lang="ko-KR" altLang="en-US" dirty="0"/>
              <a:t>오늘 말씀드린 체크리스트가 여러분의 입지 선정에 실질적인 도움이 되셨기를 바랍니다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302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발표를 마치겠습니다. 질문 있으시면 편하게 말씀해 주세요.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62753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서울시 저가 커피 상권 분석 리포트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레드오션 속 기회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유동인구·임대료·경쟁강도 데이터로 찾는 저가 커피 최적 입지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서울시 </a:t>
            </a:r>
            <a:r>
              <a:rPr lang="en-US" sz="1100" dirty="0" err="1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상권분석서비스</a:t>
            </a:r>
            <a:r>
              <a:rPr lang="en-US" sz="11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· 소상공인시장진흥공단 · 한국부동산원 데이터 기반</a:t>
            </a:r>
            <a:endParaRPr lang="en-US" sz="11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0BADF6F-1F79-2DAE-C696-A2EB3BC5E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613" y="2712378"/>
            <a:ext cx="4759467" cy="9760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A260E5-C782-42EA-9A7B-28D8F58EA6E2}"/>
              </a:ext>
            </a:extLst>
          </p:cNvPr>
          <p:cNvSpPr txBox="1"/>
          <p:nvPr/>
        </p:nvSpPr>
        <p:spPr>
          <a:xfrm>
            <a:off x="6786283" y="4331791"/>
            <a:ext cx="49027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dirty="0" err="1"/>
              <a:t>땃쥐와</a:t>
            </a:r>
            <a:r>
              <a:rPr lang="ko-KR" altLang="en-US" b="1" dirty="0"/>
              <a:t> </a:t>
            </a:r>
            <a:r>
              <a:rPr lang="ko-KR" altLang="en-US" b="1" dirty="0" err="1"/>
              <a:t>탈주닌자들</a:t>
            </a:r>
            <a:endParaRPr lang="en-US" altLang="ko-KR" b="1" dirty="0"/>
          </a:p>
          <a:p>
            <a:pPr algn="r"/>
            <a:endParaRPr lang="en-US" altLang="ko-KR" dirty="0"/>
          </a:p>
          <a:p>
            <a:pPr algn="r"/>
            <a:endParaRPr lang="en-US" altLang="ko-KR" dirty="0">
              <a:latin typeface="Arial" panose="020B0604020202020204" pitchFamily="34" charset="0"/>
            </a:endParaRPr>
          </a:p>
          <a:p>
            <a:pPr algn="r"/>
            <a:r>
              <a:rPr lang="ko-KR" altLang="ko-KR" dirty="0">
                <a:latin typeface="Arial" panose="020B0604020202020204" pitchFamily="34" charset="0"/>
              </a:rPr>
              <a:t>의사 결정자: 안재현 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</a:p>
          <a:p>
            <a:pPr algn="r"/>
            <a:r>
              <a:rPr lang="ko-KR" altLang="ko-KR" dirty="0">
                <a:latin typeface="Arial" panose="020B0604020202020204" pitchFamily="34" charset="0"/>
              </a:rPr>
              <a:t>프로젝트 매니저: </a:t>
            </a:r>
            <a:r>
              <a:rPr lang="ko-KR" altLang="ko-KR" dirty="0" err="1">
                <a:latin typeface="Arial" panose="020B0604020202020204" pitchFamily="34" charset="0"/>
              </a:rPr>
              <a:t>정훈교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endParaRPr lang="en-US" altLang="ko-KR" dirty="0">
              <a:latin typeface="Arial" panose="020B0604020202020204" pitchFamily="34" charset="0"/>
            </a:endParaRPr>
          </a:p>
          <a:p>
            <a:pPr algn="r"/>
            <a:r>
              <a:rPr lang="ko-KR" altLang="ko-KR" dirty="0">
                <a:latin typeface="Arial" panose="020B0604020202020204" pitchFamily="34" charset="0"/>
              </a:rPr>
              <a:t>연결 담당자: </a:t>
            </a:r>
            <a:r>
              <a:rPr lang="ko-KR" altLang="ko-KR" dirty="0" err="1">
                <a:latin typeface="Arial" panose="020B0604020202020204" pitchFamily="34" charset="0"/>
              </a:rPr>
              <a:t>이하준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</a:p>
          <a:p>
            <a:pPr algn="r"/>
            <a:r>
              <a:rPr lang="ko-KR" altLang="ko-KR" dirty="0">
                <a:latin typeface="Arial" panose="020B0604020202020204" pitchFamily="34" charset="0"/>
              </a:rPr>
              <a:t>기록 담당자: 김현경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AC22300-DF60-412B-95FF-CCC8CFC22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008" y="1920240"/>
            <a:ext cx="2160378" cy="60120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B7721B2-C8A5-4015-97F8-77B6A82D0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283" y="1784676"/>
            <a:ext cx="2548423" cy="78519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9513B91-9473-4286-973E-987404F50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0770" y="560411"/>
            <a:ext cx="1181100" cy="11620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CABCA95-BBBA-4B1B-92DF-56D187B8EA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3828" y="614107"/>
            <a:ext cx="2143853" cy="104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9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발표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74520" y="19385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서울시 커피 시장 현황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74520" y="23591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레드오션 속 기회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999232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74520" y="3108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페르소나 설정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74520" y="352958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저가 커피 창업 예비 사장님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169664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4169664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74520" y="42793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상권 · 유동인구 맞춤형 수익모델 검증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74520" y="470001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상권 특성과 매출·생존율의 관계 분석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340096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5340096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874520" y="54498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예비 사장님 맞춤 입지 추천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874520" y="5870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알고리즘 및 인사이트 제안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6586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문제정의 · 배경 · 목표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문제정의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저가 커피 프랜차이즈의 출점 경쟁이 심화되는 가운데, 점포의 매출과 유지 성과는 유동인구 시간대, 임대료, 경쟁점포 수 등 상권 특성에 따라 어떻게 달라지는가?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111831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배경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저가 커피 브랜드는 빠르게 점포를 확대하고 있지만, 모든 매장이 안정적인 성과를 내는 것은 </a:t>
            </a:r>
            <a:r>
              <a:rPr lang="en-US" sz="1350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아니다</a:t>
            </a:r>
            <a:r>
              <a:rPr lang="en-US" sz="135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단순</a:t>
            </a:r>
            <a:r>
              <a:rPr lang="en-US" sz="135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유동인구뿐 아니라 시간대별 유동인구, 임대료, 경쟁 강도 등 실제 점포 성과에 영향을 주는 상권 조건을 함께 확인할 필요가 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709160"/>
            <a:ext cx="111831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목표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51663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유동인구 시간대, 임대료, 경쟁점포 수와 점포당 매출·유지 성과의 관계를 분석해 저가 커피 신규 출점에 유리한 상권 조건을 도출한다.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5342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051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01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서울시 커피 시장 현황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레드오션 속 기회 분석</a:t>
            </a:r>
            <a:endParaRPr lang="en-US" sz="1700" b="1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7593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MAIN HYPOTHESIS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카페는 진입장벽 없는 과포화 시장이다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FFD43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2613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가설</a:t>
            </a:r>
            <a:endParaRPr lang="en-US" sz="1200" dirty="0">
              <a:solidFill>
                <a:srgbClr val="45261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카페가 타 업종 대비 점포당 유동인구수가 약 1/4 수준으로 낮아, 진입장벽 부재로 인한 과포화·출혈 경쟁이 </a:t>
            </a:r>
            <a:r>
              <a:rPr lang="en-US" sz="1900" b="1" i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가장</a:t>
            </a:r>
            <a:r>
              <a:rPr lang="en-US" sz="1900" b="1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ko-KR" altLang="en-US" sz="1900" b="1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치열</a:t>
            </a:r>
            <a:r>
              <a:rPr lang="en-US" sz="1900" b="1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할 것이다.</a:t>
            </a:r>
            <a:endParaRPr lang="en-US" sz="1900" b="1" dirty="0">
              <a:solidFill>
                <a:srgbClr val="1C1C1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검증 데이터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983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업종별 「점포당 평균 유동인구」를 산출해 전체 업종 평균과 커피·음료 업종을 비교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1단계 · 커피 시장 현황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2CEA989-A977-4C1B-815B-4DE60B321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3745649"/>
            <a:ext cx="83445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[서울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열린데이터광장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서울시 상권분석서비스 (상권-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추정유동인구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foot_traffic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1C869ED-D236-4671-B22F-3DBC73DD0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4291081"/>
            <a:ext cx="6808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[서울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열린데이터광장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서울시 상권분석서비스 (상권-점포 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33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그림 1·2. 업종별 점포당 유동인구 비교</a:t>
            </a:r>
            <a:endParaRPr lang="en-US" sz="3000" dirty="0"/>
          </a:p>
        </p:txBody>
      </p:sp>
      <p:pic>
        <p:nvPicPr>
          <p:cNvPr id="4" name="Image 0" descr="/home/claude/coffee_ppt/img/fig1_coffee_traffic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4642152" cy="4343400"/>
          </a:xfrm>
          <a:prstGeom prst="rect">
            <a:avLst/>
          </a:prstGeom>
        </p:spPr>
      </p:pic>
      <p:pic>
        <p:nvPicPr>
          <p:cNvPr id="5" name="Image 1" descr="/home/claude/coffee_ppt/img/fig2_coffee_traffic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615" y="1554480"/>
            <a:ext cx="5872160" cy="4343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053328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커피·음료는</a:t>
            </a:r>
            <a:r>
              <a:rPr lang="en-US" sz="115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전체 업종 평균선(약 400K)에 크게 못 미치는 최하위권 — 반면 하위 이미지의 DVD방·비디오/서적임대 등은 2,000K 이상</a:t>
            </a:r>
            <a:endParaRPr lang="en-US" sz="1150" b="1" dirty="0"/>
          </a:p>
        </p:txBody>
      </p:sp>
      <p:sp>
        <p:nvSpPr>
          <p:cNvPr id="7" name="Text 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1단계 · 커피 시장 현황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43369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판정 : 예상보다 훨씬 심각한 과밀도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DD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채택 (Supported)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60578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3605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약 400K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3605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전체 업종 평균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점포당 유동인구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1584" y="2331720"/>
            <a:ext cx="360578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91584" y="2468880"/>
            <a:ext cx="3605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5~6만 명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91584" y="3200400"/>
            <a:ext cx="3605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커피·음료 업종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점포당 유동인구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0248" y="2331720"/>
            <a:ext cx="360578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080248" y="2468880"/>
            <a:ext cx="3605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1/7 ~ 1/8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80248" y="3200400"/>
            <a:ext cx="3605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가설(1/4)</a:t>
            </a:r>
            <a:r>
              <a:rPr lang="en-US" sz="1200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보다</a:t>
            </a:r>
            <a:r>
              <a:rPr lang="en-US" sz="12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ko-KR" altLang="en-US" sz="12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높은</a:t>
            </a:r>
            <a:endParaRPr lang="en-US" altLang="ko-KR" sz="1200" dirty="0">
              <a:solidFill>
                <a:srgbClr val="1C1C1B"/>
              </a:solidFill>
              <a:latin typeface="윤고딕130" pitchFamily="34" charset="0"/>
              <a:ea typeface="윤고딕130" pitchFamily="34" charset="-122"/>
              <a:cs typeface="윤고딕130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실제</a:t>
            </a:r>
            <a:r>
              <a:rPr lang="en-US" sz="12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과밀 비율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왜 이렇게 낮은가 — 낮은 진입장벽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46634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400" dirty="0"/>
              <a:t>일반</a:t>
            </a:r>
            <a:r>
              <a:rPr lang="en-US" altLang="ko-KR" sz="1400" dirty="0"/>
              <a:t>·</a:t>
            </a:r>
            <a:r>
              <a:rPr lang="ko-KR" altLang="en-US" sz="1400" dirty="0"/>
              <a:t>휴게음식점은 </a:t>
            </a:r>
            <a:r>
              <a:rPr lang="ko-KR" altLang="en-US" sz="1400" b="1" dirty="0" err="1"/>
              <a:t>신고제</a:t>
            </a:r>
            <a:r>
              <a:rPr lang="ko-KR" altLang="en-US" sz="1400" b="1" dirty="0"/>
              <a:t> 업종</a:t>
            </a:r>
            <a:r>
              <a:rPr lang="ko-KR" altLang="en-US" sz="1400" dirty="0"/>
              <a:t>으로 법적 필수 면허</a:t>
            </a:r>
            <a:r>
              <a:rPr lang="en-US" altLang="ko-KR" sz="1400" dirty="0"/>
              <a:t>·</a:t>
            </a:r>
            <a:r>
              <a:rPr lang="ko-KR" altLang="en-US" sz="1400" dirty="0"/>
              <a:t>자격증 요건 부재</a:t>
            </a:r>
            <a:endParaRPr lang="en-US" altLang="ko-KR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400" dirty="0" err="1"/>
              <a:t>테이크아웃</a:t>
            </a:r>
            <a:r>
              <a:rPr lang="ko-KR" altLang="en-US" sz="1400" dirty="0"/>
              <a:t> 위주의 소형 매장 및 정형화된 프랜차이즈 공급으로 </a:t>
            </a:r>
            <a:r>
              <a:rPr lang="ko-KR" altLang="en-US" sz="1400" b="1" dirty="0"/>
              <a:t>타 외식업 대비 초기 설비 투자비 최소화</a:t>
            </a:r>
            <a:endParaRPr lang="en-US" altLang="ko-KR" sz="14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400" dirty="0"/>
              <a:t>제도적</a:t>
            </a:r>
            <a:r>
              <a:rPr lang="en-US" altLang="ko-KR" sz="1400" dirty="0"/>
              <a:t>·</a:t>
            </a:r>
            <a:r>
              <a:rPr lang="ko-KR" altLang="en-US" sz="1400" dirty="0"/>
              <a:t>자본적 진입 장벽 부재로 신규 </a:t>
            </a:r>
            <a:r>
              <a:rPr lang="ko-KR" altLang="en-US" sz="1400" dirty="0" err="1"/>
              <a:t>출점</a:t>
            </a:r>
            <a:r>
              <a:rPr lang="ko-KR" altLang="en-US" sz="1400" dirty="0"/>
              <a:t> 지속 → </a:t>
            </a:r>
            <a:r>
              <a:rPr lang="ko-KR" altLang="en-US" sz="1400" b="1" dirty="0"/>
              <a:t>점포 수 급증에 따라 상권 내 배후 유동인구가 </a:t>
            </a:r>
            <a:r>
              <a:rPr lang="en-US" altLang="ko-KR" sz="1400" b="1" dirty="0"/>
              <a:t>N</a:t>
            </a:r>
            <a:r>
              <a:rPr lang="ko-KR" altLang="en-US" sz="1400" b="1" dirty="0"/>
              <a:t>분의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로 분산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1단계 · 커피 시장 현황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F7BBBA-B0F3-4355-BC5B-54EF0FC294CF}"/>
              </a:ext>
            </a:extLst>
          </p:cNvPr>
          <p:cNvSpPr txBox="1"/>
          <p:nvPr/>
        </p:nvSpPr>
        <p:spPr>
          <a:xfrm>
            <a:off x="10131014" y="5801903"/>
            <a:ext cx="1730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85000"/>
                  </a:schemeClr>
                </a:solidFill>
              </a:rPr>
              <a:t>참고문헌 참조</a:t>
            </a:r>
          </a:p>
        </p:txBody>
      </p:sp>
    </p:spTree>
    <p:extLst>
      <p:ext uri="{BB962C8B-B14F-4D97-AF65-F5344CB8AC3E}">
        <p14:creationId xmlns:p14="http://schemas.microsoft.com/office/powerpoint/2010/main" val="1478968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051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02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페르소나 설정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저가 커피 창업을 고민하는 예비 사장님</a:t>
            </a:r>
            <a:endParaRPr lang="en-US" sz="1700" b="1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9548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PERSONA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예비 사장님, 김도현 (34세)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FD4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김도현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4206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52613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34세 · 8년차 직장인 → 창업 준비</a:t>
            </a:r>
            <a:endParaRPr lang="en-US" sz="1600" dirty="0">
              <a:solidFill>
                <a:srgbClr val="45261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86480" y="4480560"/>
            <a:ext cx="315536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자본금 약 1.5억 원 (퇴직금+저축)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대기업 마케팅팀 대리 출신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윤고딕130"/>
              </a:rPr>
              <a:t>저가 커피 창업 준비중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윤고딕130"/>
              <a:ea typeface="윤고딕13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7296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09160" y="1755648"/>
            <a:ext cx="6748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2613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목표</a:t>
            </a:r>
            <a:endParaRPr lang="en-US" sz="1500" dirty="0">
              <a:solidFill>
                <a:srgbClr val="45261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09160" y="2103120"/>
            <a:ext cx="6748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저가 커피 프랜차이즈 창업을 통해 안정적인 고정 수입을 확보하고 싶다.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3246120"/>
            <a:ext cx="7296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3355848"/>
            <a:ext cx="6748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고민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3703320"/>
            <a:ext cx="6748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"그냥 사람 많은 곳"만 보고 들어갔다가 6개월 만에 문 닫는 사례를 여럿 봤다. 유동인구만으로는 안심할 수 없다는 걸 안다.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4846320"/>
            <a:ext cx="7296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09160" y="4956048"/>
            <a:ext cx="6748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의사결정 기준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5303520"/>
            <a:ext cx="6748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① 시간대별 실질 유동인구  ② ㎡당 임대료 부담 </a:t>
            </a:r>
            <a:r>
              <a:rPr lang="en-US" sz="1600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수준</a:t>
            </a:r>
            <a:r>
              <a:rPr lang="en-US" sz="16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③ 동일 상권 내 경쟁 브랜드 밀집도  ④ 선점 vs 후발 진입 리스크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2단계 · 페르소나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8</a:t>
            </a:r>
            <a:endParaRPr lang="en-US" sz="9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E027CE5-B652-C55B-B442-DFA6D162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845696"/>
            <a:ext cx="1670685" cy="174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8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051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03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상권 · 유동인구 맞춤형 수익모델 검증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모든</a:t>
            </a:r>
            <a:r>
              <a:rPr lang="en-US" sz="17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저가 커피가 다 성공하는가? — 상권 조건별 생존율 검증</a:t>
            </a:r>
            <a:endParaRPr lang="en-US" sz="1700" b="1" dirty="0"/>
          </a:p>
        </p:txBody>
      </p:sp>
      <p:sp>
        <p:nvSpPr>
          <p:cNvPr id="6" name="Shape 4"/>
          <p:cNvSpPr/>
          <p:nvPr/>
        </p:nvSpPr>
        <p:spPr>
          <a:xfrm>
            <a:off x="502920" y="4343400"/>
            <a:ext cx="3544824" cy="1737360"/>
          </a:xfrm>
          <a:prstGeom prst="roundRect">
            <a:avLst>
              <a:gd name="adj" fmla="val 3158"/>
            </a:avLst>
          </a:prstGeom>
          <a:solidFill>
            <a:srgbClr val="FFD437"/>
          </a:solidFill>
          <a:ln w="12700">
            <a:solidFill>
              <a:srgbClr val="7676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04088" y="4480560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2613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Q1 · 유동인구 성격</a:t>
            </a:r>
            <a:endParaRPr lang="en-US" sz="1200" dirty="0">
              <a:solidFill>
                <a:srgbClr val="452613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04088" y="4800600"/>
            <a:ext cx="3179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어떤 시간대에 사람이 많아야 장사가 되는가?</a:t>
            </a:r>
            <a:endParaRPr lang="en-US" sz="1250" b="1" dirty="0">
              <a:solidFill>
                <a:srgbClr val="1C1C1B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22064" y="4343400"/>
            <a:ext cx="3544824" cy="1737360"/>
          </a:xfrm>
          <a:prstGeom prst="roundRect">
            <a:avLst>
              <a:gd name="adj" fmla="val 3158"/>
            </a:avLst>
          </a:prstGeom>
          <a:solidFill>
            <a:srgbClr val="FFD437"/>
          </a:solidFill>
          <a:ln w="12700">
            <a:solidFill>
              <a:srgbClr val="7676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23232" y="4480560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2613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Q2 · 비용 구조</a:t>
            </a:r>
            <a:endParaRPr lang="en-US" sz="1200" dirty="0">
              <a:solidFill>
                <a:srgbClr val="452613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23232" y="4800600"/>
            <a:ext cx="3179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저단가·고회전 구조가 버틸 수 있는 월세 한계선은?</a:t>
            </a:r>
            <a:endParaRPr lang="en-US" sz="1250" b="1" dirty="0">
              <a:solidFill>
                <a:srgbClr val="1C1C1B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41208" y="4343400"/>
            <a:ext cx="3544824" cy="1737360"/>
          </a:xfrm>
          <a:prstGeom prst="roundRect">
            <a:avLst>
              <a:gd name="adj" fmla="val 3158"/>
            </a:avLst>
          </a:prstGeom>
          <a:solidFill>
            <a:srgbClr val="FFD437"/>
          </a:solidFill>
          <a:ln w="12700">
            <a:solidFill>
              <a:srgbClr val="7676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42376" y="4480560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2613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Q3 · 경쟁 구도</a:t>
            </a:r>
            <a:endParaRPr lang="en-US" sz="1200" dirty="0">
              <a:solidFill>
                <a:srgbClr val="45261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42376" y="4800600"/>
            <a:ext cx="3179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먼저 들어간 곳과 뒤늦게 들어간 곳의 차이는?</a:t>
            </a:r>
            <a:endParaRPr lang="en-US" sz="1250" b="1" dirty="0">
              <a:solidFill>
                <a:srgbClr val="1C1C1B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84796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Q1 · 유동인구 성격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가설 3-1. 피크타임 고회전 가설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600200"/>
          </a:xfrm>
          <a:prstGeom prst="roundRect">
            <a:avLst>
              <a:gd name="adj" fmla="val 3429"/>
            </a:avLst>
          </a:prstGeom>
          <a:solidFill>
            <a:srgbClr val="FFD4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2613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가설</a:t>
            </a:r>
            <a:endParaRPr lang="en-US" sz="1200" dirty="0">
              <a:solidFill>
                <a:srgbClr val="45261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메가커피의 매출 및 생존력은 하루 전체 유동인구 총량보다 '08~14시(출근·점심시간) 유동인구 비중'과 훨씬 더 강한 양(+)의 상관관계를 보이며, 저녁·주말 체류형 주거 골목에서는 후발 점포의 매출 확보 실패율이 높을 것이다.</a:t>
            </a:r>
            <a:endParaRPr lang="en-US" sz="1550" b="1" dirty="0">
              <a:solidFill>
                <a:srgbClr val="1C1C1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검증 데이터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Q1 유동인구 성격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77442F2-C96E-4734-998C-35807E387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73" y="3918385"/>
            <a:ext cx="73484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[서울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열린데이터광장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서울시 상권분석서비스 (상권-추정매출 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sales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845017C-B65A-4D0D-92E1-33025FACA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73" y="4422059"/>
            <a:ext cx="83445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[서울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열린데이터광장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서울시 상권분석서비스 (상권-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추정유동인구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foot_traffic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A805FF5-7C5A-4433-81D0-50B58FEC9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73" y="4931344"/>
            <a:ext cx="57198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소상공인시장진흥공단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상가(상권)정보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store_listing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27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RESULT · 차트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시간대별 매출 × 유동인구 (전체 패턴)</a:t>
            </a:r>
            <a:endParaRPr lang="en-US" sz="3000" dirty="0"/>
          </a:p>
        </p:txBody>
      </p:sp>
      <p:pic>
        <p:nvPicPr>
          <p:cNvPr id="4" name="Image 0" descr="/home/claude/coffee_ppt/img/fig11_hourly_sales_traff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011" y="1508760"/>
            <a:ext cx="6489674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98932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유동인구의 역설(붉은선): 심야·새벽(00~06시) 최고치 → 낮 시간대는 평이한 수준 유지  </a:t>
            </a:r>
            <a:endParaRPr lang="en-US" sz="115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매출의 폭발적 집중(파란선): 유동인구 총량과 무관하게 11~14시 점심 피크에 극단적 정점(700G+), </a:t>
            </a:r>
            <a:r>
              <a:rPr lang="en-US" sz="1150" b="1" dirty="0" err="1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야간엔</a:t>
            </a:r>
            <a:r>
              <a:rPr lang="en-US" sz="115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ko-KR" altLang="en-US" sz="115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하락세를 보임</a:t>
            </a:r>
            <a:endParaRPr lang="en-US" sz="1150" b="1" dirty="0"/>
          </a:p>
        </p:txBody>
      </p:sp>
      <p:sp>
        <p:nvSpPr>
          <p:cNvPr id="6" name="Text 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Q1 유동인구 성격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2495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RESULT · 차트 2·3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3사 매출 비교 &amp; 입점 상권 수</a:t>
            </a:r>
            <a:endParaRPr lang="en-US" sz="3000" dirty="0"/>
          </a:p>
        </p:txBody>
      </p:sp>
      <p:pic>
        <p:nvPicPr>
          <p:cNvPr id="4" name="Image 0" descr="/home/claude/coffee_ppt/img/fig12_hourly_3brand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5420563" cy="3566160"/>
          </a:xfrm>
          <a:prstGeom prst="rect">
            <a:avLst/>
          </a:prstGeom>
        </p:spPr>
      </p:pic>
      <p:pic>
        <p:nvPicPr>
          <p:cNvPr id="5" name="Image 1" descr="/home/claude/coffee_ppt/img/fig13_trade_area_c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135" y="1600200"/>
            <a:ext cx="5120640" cy="33427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19" y="5257800"/>
            <a:ext cx="113484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MGC(메가커피) 11~14시 피크 매출 약 381억 원 — 컴포즈(약 330억) · 빽다방(약 280억)을 큰 격차로 앞섬 · 입점 상권 수도 627개로 최다(컴포즈 514 · 빽다방 411)</a:t>
            </a:r>
            <a:endParaRPr lang="en-US" sz="1250" b="1" dirty="0"/>
          </a:p>
        </p:txBody>
      </p:sp>
      <p:sp>
        <p:nvSpPr>
          <p:cNvPr id="7" name="Shape 3"/>
          <p:cNvSpPr/>
          <p:nvPr/>
        </p:nvSpPr>
        <p:spPr>
          <a:xfrm>
            <a:off x="502920" y="58978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DD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502920" y="5897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채택 (Supported)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606040" y="58978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하루 총 유동인구보다 '점심 피크시간(11~14시) 실질 트래픽'이 </a:t>
            </a:r>
            <a:r>
              <a:rPr lang="en-US" sz="1250" i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매출을</a:t>
            </a:r>
            <a:r>
              <a:rPr lang="en-US" sz="1250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en-US" sz="1250" i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결정</a:t>
            </a:r>
            <a:endParaRPr lang="en-US" sz="1250" i="1" dirty="0">
              <a:solidFill>
                <a:srgbClr val="1C1C1B"/>
              </a:solidFill>
              <a:latin typeface="윤고딕130" pitchFamily="34" charset="0"/>
              <a:ea typeface="윤고딕130" pitchFamily="34" charset="-122"/>
              <a:cs typeface="윤고딕130" pitchFamily="34" charset="-120"/>
            </a:endParaRPr>
          </a:p>
          <a:p>
            <a:pPr marL="0" indent="0">
              <a:buNone/>
            </a:pPr>
            <a:r>
              <a:rPr lang="en-US" sz="1250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— 메가커피는 이 피크타임 트래픽이 보장되는 핵심 상권을 가장 많이 선점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Q1 유동인구 성격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9995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Q2 · 비용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가설 3-2. 임대료 임계점 가설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600200"/>
          </a:xfrm>
          <a:prstGeom prst="roundRect">
            <a:avLst>
              <a:gd name="adj" fmla="val 3429"/>
            </a:avLst>
          </a:prstGeom>
          <a:solidFill>
            <a:srgbClr val="FFD4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2613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가설</a:t>
            </a:r>
            <a:endParaRPr lang="en-US" sz="1200" dirty="0">
              <a:solidFill>
                <a:srgbClr val="45261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잔당 마진이 낮은 저가 커피 특성상, 상권의 '단위면적당 임대료(㎡당 월세)'가 상위 10% 이상인 초고가 역세권에서는 유동인구가 많아도 높은 고정비로 인해 점주 이탈(명의변경·폐업) 비율이 비선형적으로 급증할 것이다.</a:t>
            </a:r>
            <a:endParaRPr lang="en-US" sz="1550" b="1" dirty="0">
              <a:solidFill>
                <a:srgbClr val="1C1C1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검증 데이터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Q2 비용 구조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775AAF2-1EF0-41D0-BA00-16E29F58D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12" y="3828748"/>
            <a:ext cx="59250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[한국부동산원]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상업용부동산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임대동향조사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rent_small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85DBE99-6A3C-4B59-ADCB-24F31B9ED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12" y="4419418"/>
            <a:ext cx="83445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[서울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열린데이터광장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서울시 상권분석서비스 (상권-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추정유동인구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foot_traffic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8E0519D-45D5-499B-BA58-673A9C90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4968700"/>
            <a:ext cx="68611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[서울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열린데이터광장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서울시 상권분석서비스 (상권-점포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02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임대료 vs 폐업률</a:t>
            </a:r>
            <a:endParaRPr lang="en-US" sz="3000" dirty="0"/>
          </a:p>
        </p:txBody>
      </p:sp>
      <p:pic>
        <p:nvPicPr>
          <p:cNvPr id="4" name="Image 0" descr="/home/claude/coffee_ppt/img/fig14_rent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1578"/>
            <a:ext cx="6095773" cy="31990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4515" y="4927827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임대료 </a:t>
            </a:r>
            <a:r>
              <a:rPr lang="en-US" sz="1400" b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구간별</a:t>
            </a:r>
            <a:r>
              <a:rPr lang="en-US" sz="14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en-US" sz="1400" b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폐업지표</a:t>
            </a:r>
            <a:endParaRPr lang="en-US" sz="1400" dirty="0"/>
          </a:p>
        </p:txBody>
      </p:sp>
      <p:pic>
        <p:nvPicPr>
          <p:cNvPr id="6" name="Image 1" descr="/home/claude/coffee_ppt/img/fig15_rent_band_clo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327707"/>
            <a:ext cx="5295636" cy="10846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10233" y="1572768"/>
            <a:ext cx="4878542" cy="418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ko-KR" altLang="en-US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임대료 </a:t>
            </a:r>
            <a:r>
              <a:rPr lang="en-US" altLang="ko-KR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vs.</a:t>
            </a:r>
            <a:r>
              <a:rPr lang="ko-KR" altLang="en-US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ko-KR" altLang="en-US" b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폐업률</a:t>
            </a:r>
            <a:r>
              <a:rPr lang="ko-KR" altLang="en-US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ko-KR" altLang="en-US" b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산점도</a:t>
            </a:r>
            <a:endParaRPr lang="en-US" b="1" dirty="0">
              <a:solidFill>
                <a:srgbClr val="1C1C1B"/>
              </a:solidFill>
              <a:latin typeface="윤고딕130" pitchFamily="34" charset="0"/>
              <a:ea typeface="윤고딕130" pitchFamily="34" charset="-122"/>
              <a:cs typeface="윤고딕130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상위</a:t>
            </a:r>
            <a:r>
              <a:rPr lang="en-US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10% 초고가 상권(빨간 점): 유동인구 400만~850만, 폐업률 4~5%로 안정적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일반·중저가 상권(파란 점): 유동인구 100만~250만 구간에서 폐업률 15~43%까지 </a:t>
            </a:r>
            <a:r>
              <a:rPr lang="en-US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급등</a:t>
            </a:r>
            <a:endParaRPr lang="en-US" dirty="0">
              <a:solidFill>
                <a:srgbClr val="1C1C1B"/>
              </a:solidFill>
              <a:latin typeface="윤고딕130" pitchFamily="34" charset="0"/>
              <a:ea typeface="윤고딕130" pitchFamily="34" charset="-122"/>
              <a:cs typeface="윤고딕130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endParaRPr lang="en-US" b="1" dirty="0">
              <a:solidFill>
                <a:srgbClr val="1C1C1B"/>
              </a:solidFill>
              <a:latin typeface="윤고딕130" pitchFamily="34" charset="0"/>
              <a:ea typeface="윤고딕130" pitchFamily="34" charset="-122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ko-KR" altLang="en-US" b="1" dirty="0"/>
              <a:t>임대료 구간별 폐업지표</a:t>
            </a:r>
            <a:endParaRPr lang="en-US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임대료 구간별 지표도 '중가(12만~18만원)' 구간이 가장 불안정 — </a:t>
            </a:r>
            <a:r>
              <a:rPr lang="ko-KR" altLang="en-US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오히려 </a:t>
            </a:r>
            <a:r>
              <a:rPr lang="en-US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초고가</a:t>
            </a:r>
            <a:r>
              <a:rPr lang="en-US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en-US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구간이</a:t>
            </a:r>
            <a:r>
              <a:rPr lang="en-US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가장 낮음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Q2 비용 구조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89137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판정 : 부분 실패 — 위험은 '어중간한' 상권에 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B23A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부분 실패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118311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"초고가 상권일수록 폐업률이 높다"는 직관은 기각됩니다. 초고가 상권은 막대한 트래픽으로 높은 월세를 상쇄하는 반면, 유동인구 유입이 어중간한 중·고가 2급 상권이 오히려 고정비를 감당하지 못해 폐업률이 폭등합니다.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그렇다면 왜 유동인구 100만~250만 명 수준의 '어중간한' 상권에서 폐업률이 15~40%대로 폭등할까?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Q2 비용 구조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00027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Q2 추가 가설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과밀 출점이 '유효 유동인구'를 갉아먹는다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추가 가설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동일 상권(행정동) 내 저가 커피 5개사가 과밀 출점(5개 이상)하여 점포 1개당 배분되는 '유효 유동인구(트래픽 파이)'가 급감했기 때문일 것이다.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567376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19" y="3246120"/>
            <a:ext cx="5176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7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유효 유동인구 = 상권 평균 유동인구수 ÷ 동</a:t>
            </a:r>
            <a:r>
              <a:rPr lang="ko-KR" altLang="en-US" sz="1200" b="1" dirty="0">
                <a:solidFill>
                  <a:srgbClr val="767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</a:t>
            </a:r>
            <a:r>
              <a:rPr lang="en-US" sz="1200" b="1" dirty="0">
                <a:solidFill>
                  <a:srgbClr val="767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저가커피 총 점포수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297680"/>
            <a:ext cx="5486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과밀 상권(5개 이상 밀집): 매장당 유효 유동인구 전원 20만 명 미만에 집중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폐업률 15~43% 고위험 상권 전부가 '유효 유동인구 20만 명 이하' 구간에 위치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유효 유동인구 40만~60만 이상 구간은 폐업률 5% 내외로 안정화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59893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DD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채택 (Supported)</a:t>
            </a:r>
            <a:endParaRPr lang="en-US" sz="1300" dirty="0"/>
          </a:p>
        </p:txBody>
      </p:sp>
      <p:pic>
        <p:nvPicPr>
          <p:cNvPr id="11" name="Image 0" descr="/home/claude/coffee_ppt/img/fig3_effective_traffic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320" y="2189101"/>
            <a:ext cx="5788999" cy="30741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Q2 비용 구조 (추가)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14322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Q3 · 경쟁 구도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가설 3-3. 선점 락인 vs 후발 잠식 가설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737360"/>
          </a:xfrm>
          <a:prstGeom prst="roundRect">
            <a:avLst>
              <a:gd name="adj" fmla="val 3158"/>
            </a:avLst>
          </a:prstGeom>
          <a:solidFill>
            <a:srgbClr val="FFD4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2613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가설</a:t>
            </a:r>
            <a:endParaRPr lang="en-US" sz="1200" dirty="0">
              <a:solidFill>
                <a:srgbClr val="45261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상권 영역 내 최초 진입한 '선점 점포'는 고객 락인으로 폐점률이 1% 미만이지만, 타 저가 커피가 2개 이상 있는 블록에 뒤늦게 들어간 '후발 점포'는 2년 내 조기 폐점·명의변경 발생 확률이 3배 이상 높을 것이다.</a:t>
            </a:r>
            <a:endParaRPr lang="en-US" sz="1550" b="1" dirty="0">
              <a:solidFill>
                <a:srgbClr val="1C1C1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검증 데이터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Q3 경쟁 구도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9BF46D3-7058-44D7-A939-B6176D059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4018366"/>
            <a:ext cx="81051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[서울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열린데이터광장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일반음식점·휴게음식점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인허가 이력 데이터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licensing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AC9C388-00E2-42B8-A801-3213C5020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4627966"/>
            <a:ext cx="57198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소상공인시장진흥공단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상가(상권)정보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store_listing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785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선점 vs 후발 — 전체 평균 폐업률(2년 내)</a:t>
            </a:r>
            <a:endParaRPr lang="en-US" sz="3000" dirty="0"/>
          </a:p>
        </p:txBody>
      </p:sp>
      <p:pic>
        <p:nvPicPr>
          <p:cNvPr id="4" name="Image 0" descr="/home/claude/coffee_ppt/img/fig5_close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6766560" cy="42900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78308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전체 5개 브랜드 평균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35240" y="2286000"/>
            <a:ext cx="405353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863840" y="2395728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선점 점포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2670048"/>
            <a:ext cx="3596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11.04%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7635240" y="3520440"/>
            <a:ext cx="405353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863840" y="3630168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후발 점포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3904488"/>
            <a:ext cx="3596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23A24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13.01%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635240" y="4800600"/>
            <a:ext cx="4053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전체 평균으로는 후발 점포의 폐업률이 약 2%p 더 높게 나타남</a:t>
            </a:r>
            <a:endParaRPr lang="en-US" sz="1200" b="1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Q3 경쟁 구도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91239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브랜드별 선점 vs 후발 폐업률(2년 내)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0868" y="1508760"/>
            <a:ext cx="36118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78028" y="1545336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메가MGC커피</a:t>
            </a:r>
            <a:endParaRPr lang="en-US" sz="1200" dirty="0"/>
          </a:p>
        </p:txBody>
      </p:sp>
      <p:pic>
        <p:nvPicPr>
          <p:cNvPr id="6" name="Image 0" descr="/home/claude/coffee_ppt/img/fig6_close_mg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17" y="1874520"/>
            <a:ext cx="2804582" cy="1783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89908" y="1508760"/>
            <a:ext cx="36118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427068" y="1545336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더벤티</a:t>
            </a:r>
            <a:endParaRPr lang="en-US" sz="1200" dirty="0"/>
          </a:p>
        </p:txBody>
      </p:sp>
      <p:pic>
        <p:nvPicPr>
          <p:cNvPr id="9" name="Image 1" descr="/home/claude/coffee_ppt/img/fig7_close_ven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18" y="1874520"/>
            <a:ext cx="2806458" cy="1783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38948" y="1508760"/>
            <a:ext cx="36118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8176108" y="1545336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매머드커피</a:t>
            </a:r>
            <a:endParaRPr lang="en-US" sz="1200" dirty="0"/>
          </a:p>
        </p:txBody>
      </p:sp>
      <p:pic>
        <p:nvPicPr>
          <p:cNvPr id="12" name="Image 2" descr="/home/claude/coffee_ppt/img/fig8_close_mammo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057" y="1874520"/>
            <a:ext cx="2795661" cy="17830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0868" y="3886200"/>
            <a:ext cx="36118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678028" y="3922776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빽다방</a:t>
            </a:r>
            <a:endParaRPr lang="en-US" sz="1200" dirty="0"/>
          </a:p>
        </p:txBody>
      </p:sp>
      <p:pic>
        <p:nvPicPr>
          <p:cNvPr id="15" name="Image 3" descr="/home/claude/coffee_ppt/img/fig9_close_paikdaba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43" y="4251960"/>
            <a:ext cx="2805729" cy="17830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89908" y="3886200"/>
            <a:ext cx="36118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4427068" y="3922776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컴포즈커피</a:t>
            </a:r>
            <a:endParaRPr lang="en-US" sz="1200" dirty="0"/>
          </a:p>
        </p:txBody>
      </p:sp>
      <p:pic>
        <p:nvPicPr>
          <p:cNvPr id="18" name="Image 4" descr="/home/claude/coffee_ppt/img/fig10_close_comp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985" y="4251960"/>
            <a:ext cx="2799725" cy="1783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Q3 경쟁 구도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75457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판정 : 브랜드별 차별적 채택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6767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조건부 채택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502920" y="2148840"/>
          <a:ext cx="11183112" cy="281635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브랜드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선점 폐업률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후발 폐업률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해석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전체 평균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11.04%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13.01%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767675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후발이 다소 불리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메가MGC커피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1.36%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0.97%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767675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후발이 오히려 더 안정적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더벤티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0.00%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3.80%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767675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후발 리스크 뚜렷 (가설 지지)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매머드커피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5.56%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4.17%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767675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후발이 오히려 더 안정적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빽다방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4.12%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0.97%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767675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후발이 오히려 더 안정적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컴포즈커피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0.00%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3.10%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767675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후발 리스크 뚜렷 (가설 지지)</a:t>
                      </a:r>
                      <a:endParaRPr lang="en-US" sz="130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21208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5개 브랜드 중 3개(메가MGC·매머드·빽다방)는 후발 진입에도 폐업률이 오히려 낮거나 비슷한 반면, 2개(더벤티·컴포즈)는 가설대로 후발 점포의 조기 폐업 위험이 급증합니다. 강한 브랜드력·인지도가 후발 진입의 리스크를 상쇄할 수 있음을 시사합니다.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3단계 · Q3 경쟁 구도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20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44935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051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04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예비</a:t>
            </a:r>
            <a:r>
              <a:rPr lang="en-US" sz="3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ko-KR" altLang="en-US" sz="3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카페 </a:t>
            </a:r>
            <a:r>
              <a:rPr lang="en-US" sz="3800" b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사장님</a:t>
            </a:r>
            <a:r>
              <a:rPr lang="en-US" sz="3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맞춤 입지 추천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3가지 검증 결과를 하나의 의사결정 체크리스트로</a:t>
            </a:r>
            <a:endParaRPr lang="en-US" sz="1700" b="1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21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90413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예비</a:t>
            </a: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</a:t>
            </a:r>
            <a:r>
              <a:rPr lang="ko-KR" alt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카페 </a:t>
            </a:r>
            <a:r>
              <a:rPr lang="en-US" sz="3000" b="1" dirty="0" err="1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사장님을</a:t>
            </a: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 위한 입지 스코어링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FDD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피크타임 트래픽 우선 확인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0391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하루 총 유동인구가 아니라 11~14시 점심 피크시간대 실질 유동인구 비중을 최우선으로 확인 (Q1)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502920" cy="502920"/>
          </a:xfrm>
          <a:prstGeom prst="ellipse">
            <a:avLst/>
          </a:prstGeom>
          <a:solidFill>
            <a:srgbClr val="76767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'어중간한' 중가 임대료 상권 회피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0906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㎡당 임대료가 극단적으로 낮거나 높은 곳보다, 트래픽 대비 애매한 12만~18만원대 중가 상권의 리스크가 더 크다 (Q2)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502920" cy="502920"/>
          </a:xfrm>
          <a:prstGeom prst="ellipse">
            <a:avLst/>
          </a:prstGeom>
          <a:solidFill>
            <a:srgbClr val="76767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794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유효 유동인구 40만 명 이상 확보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1422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상권 평균 유동인구 ÷ 동일 상권 내 저가 커피 총 점포 수 ≥ 40만 명이 되는 곳을 선별 — 동일 행정동 내 5개사 밀집 여부 필수 체크 (Q2-추가)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92040"/>
            <a:ext cx="502920" cy="502920"/>
          </a:xfrm>
          <a:prstGeom prst="ellipse">
            <a:avLst/>
          </a:prstGeom>
          <a:solidFill>
            <a:srgbClr val="B23A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846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브랜드력에 맞는 진입 전략 선택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선점 기회가 없다면, 인지도가 낮은 브랜드는 경쟁사 2곳 이상인 블록을 피하고, 브랜드력이 강할수록 후발 진입도 가능 (Q3)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4단계 · 입지 추천 인사이트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50018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가설 검증 결과 총정리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46120"/>
              </p:ext>
            </p:extLst>
          </p:nvPr>
        </p:nvGraphicFramePr>
        <p:xfrm>
          <a:off x="502920" y="1737360"/>
          <a:ext cx="11183112" cy="3931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구분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가설 요약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판정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350" b="1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가설 </a:t>
                      </a:r>
                      <a:r>
                        <a:rPr lang="en-US" altLang="ko-KR" sz="1350" b="1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1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카페 점포당 유동인구, 타 업종 대비 1/4 수준으로 과포화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DD000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채택 (1/7~1/8 수준)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가설 3-1 (Q1)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하루 총 유동인구보다 점심 피크타임(11~14시) 트래픽이 매출 결정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DD000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채택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가설 3-2 (Q2)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초고가 상권일수록 폐업률 급증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DD000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부분 실패 (중가 상권이 최고 위험)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가설 3-2 추가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과밀 출점 → 유효 유동인구 급감 → 폐업률 폭등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DD000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채택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가설 3-3 (Q3)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C1B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후발 점포가 선점 점포보다 폐업 위험 3배 이상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DD000"/>
                          </a:solidFill>
                          <a:latin typeface="윤고딕130" pitchFamily="34" charset="0"/>
                          <a:ea typeface="윤고딕130" pitchFamily="34" charset="-122"/>
                          <a:cs typeface="윤고딕130" pitchFamily="34" charset="-120"/>
                        </a:rPr>
                        <a:t>브랜드별 차별적 채택</a:t>
                      </a:r>
                      <a:endParaRPr lang="en-US" sz="1350" dirty="0">
                        <a:latin typeface="윤고딕130" charset="0"/>
                        <a:ea typeface="윤고딕130" charset="0"/>
                        <a:cs typeface="윤고딕130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23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80168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RETROSPECTIVE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회고 및 분석의 한계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검증하지 못한 가설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2단계 관련: 저가 커피는 고가 커피 주요 경쟁 브랜드보다 최근 N년간 신규 개점율이 유의미하게 높을 것이다.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B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→ 성립 시 후속 가설: 메가커피는 다른 저가 커피보다 신규 개점율이 유의미하게 높을 것이다.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시중에 공개된 데이터 부족으로 분석을 진행하지 못한 한계로 남겨두었습니다.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24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16149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D437"/>
                </a:solidFill>
                <a:latin typeface="윤고딕130"/>
                <a:ea typeface="윤고딕130"/>
              </a:rPr>
              <a:t>REFERENCE</a:t>
            </a:r>
            <a:endParaRPr lang="en-US" alt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7675"/>
                </a:solidFill>
                <a:latin typeface="윤고딕130" pitchFamily="34" charset="0"/>
                <a:ea typeface="윤고딕130" pitchFamily="34" charset="-122"/>
              </a:rPr>
              <a:t>25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FD6ECF-96C1-4560-B51F-102ECA71A7D3}"/>
              </a:ext>
            </a:extLst>
          </p:cNvPr>
          <p:cNvSpPr txBox="1"/>
          <p:nvPr/>
        </p:nvSpPr>
        <p:spPr>
          <a:xfrm>
            <a:off x="525491" y="777240"/>
            <a:ext cx="111632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서울시 </a:t>
            </a:r>
            <a:r>
              <a:rPr lang="ko-KR" altLang="en-US" b="1" dirty="0" err="1"/>
              <a:t>열린데이터광장</a:t>
            </a:r>
            <a:r>
              <a:rPr lang="en-US" altLang="ko-KR" b="1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(2023). </a:t>
            </a:r>
            <a:r>
              <a:rPr lang="ko-KR" altLang="en-US" dirty="0"/>
              <a:t>서울시 상권분석서비스 </a:t>
            </a:r>
            <a:r>
              <a:rPr lang="en-US" altLang="ko-KR" dirty="0"/>
              <a:t>(</a:t>
            </a:r>
            <a:r>
              <a:rPr lang="ko-KR" altLang="en-US" dirty="0"/>
              <a:t>상권</a:t>
            </a:r>
            <a:r>
              <a:rPr lang="en-US" altLang="ko-KR" dirty="0"/>
              <a:t>-</a:t>
            </a:r>
            <a:r>
              <a:rPr lang="ko-KR" altLang="en-US" dirty="0" err="1"/>
              <a:t>추정유동인구</a:t>
            </a:r>
            <a:r>
              <a:rPr lang="ko-KR" altLang="en-US" dirty="0"/>
              <a:t> 및 상권</a:t>
            </a:r>
            <a:r>
              <a:rPr lang="en-US" altLang="ko-KR" dirty="0"/>
              <a:t>-</a:t>
            </a:r>
            <a:r>
              <a:rPr lang="ko-KR" altLang="en-US" dirty="0"/>
              <a:t>점포 데이터</a:t>
            </a:r>
            <a:r>
              <a:rPr lang="en-US" altLang="ko-KR" dirty="0"/>
              <a:t>). </a:t>
            </a:r>
            <a:r>
              <a:rPr lang="ko-KR" altLang="en-US" dirty="0"/>
              <a:t>서울특별시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 err="1"/>
              <a:t>소상공인시장진흥공단</a:t>
            </a:r>
            <a:r>
              <a:rPr lang="en-US" altLang="ko-KR" b="1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(2023). </a:t>
            </a:r>
            <a:r>
              <a:rPr lang="ko-KR" altLang="en-US" dirty="0"/>
              <a:t>소상공인 상권정보시스템 업종별</a:t>
            </a:r>
            <a:r>
              <a:rPr lang="en-US" altLang="ko-KR" dirty="0"/>
              <a:t>·</a:t>
            </a:r>
            <a:r>
              <a:rPr lang="ko-KR" altLang="en-US" dirty="0" err="1"/>
              <a:t>상권별</a:t>
            </a:r>
            <a:r>
              <a:rPr lang="ko-KR" altLang="en-US" dirty="0"/>
              <a:t> 매출 및 점포 현황 데이터</a:t>
            </a:r>
            <a:r>
              <a:rPr lang="en-US" altLang="ko-KR" dirty="0"/>
              <a:t>. </a:t>
            </a:r>
            <a:r>
              <a:rPr lang="ko-KR" altLang="en-US" dirty="0"/>
              <a:t>중소벤처기업부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법제처</a:t>
            </a:r>
            <a:r>
              <a:rPr lang="en-US" altLang="ko-KR" b="1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(2023). </a:t>
            </a:r>
            <a:r>
              <a:rPr lang="ko-KR" altLang="en-US" dirty="0"/>
              <a:t>식품위생법 </a:t>
            </a:r>
            <a:r>
              <a:rPr lang="en-US" altLang="ko-KR" dirty="0"/>
              <a:t>(</a:t>
            </a:r>
            <a:r>
              <a:rPr lang="ko-KR" altLang="en-US" dirty="0"/>
              <a:t>법률 제</a:t>
            </a:r>
            <a:r>
              <a:rPr lang="en-US" altLang="ko-KR" dirty="0"/>
              <a:t>19464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r>
              <a:rPr lang="ko-KR" altLang="en-US" dirty="0"/>
              <a:t> 및 동법 시행령 제</a:t>
            </a:r>
            <a:r>
              <a:rPr lang="en-US" altLang="ko-KR" dirty="0"/>
              <a:t>21</a:t>
            </a:r>
            <a:r>
              <a:rPr lang="ko-KR" altLang="en-US" dirty="0"/>
              <a:t>조</a:t>
            </a:r>
            <a:r>
              <a:rPr lang="en-US" altLang="ko-KR" dirty="0"/>
              <a:t>(</a:t>
            </a:r>
            <a:r>
              <a:rPr lang="ko-KR" altLang="en-US" dirty="0"/>
              <a:t>영업의 종류</a:t>
            </a:r>
            <a:r>
              <a:rPr lang="en-US" altLang="ko-KR" dirty="0"/>
              <a:t>: </a:t>
            </a:r>
            <a:r>
              <a:rPr lang="ko-KR" altLang="en-US" dirty="0" err="1"/>
              <a:t>휴게음식점영업</a:t>
            </a:r>
            <a:r>
              <a:rPr lang="en-US" altLang="ko-KR" dirty="0"/>
              <a:t>). </a:t>
            </a:r>
            <a:r>
              <a:rPr lang="ko-KR" altLang="en-US" dirty="0"/>
              <a:t>국가법령정보센터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4. </a:t>
            </a:r>
            <a:r>
              <a:rPr lang="ko-KR" altLang="en-US" b="1" dirty="0"/>
              <a:t>공정거래위원회</a:t>
            </a:r>
            <a:r>
              <a:rPr lang="en-US" altLang="ko-KR" b="1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(2023). 2023</a:t>
            </a:r>
            <a:r>
              <a:rPr lang="ko-KR" altLang="en-US" dirty="0"/>
              <a:t>년도 가맹사업 현황 통계 및 정보공개서 데이터</a:t>
            </a:r>
            <a:r>
              <a:rPr lang="en-US" altLang="ko-KR" dirty="0"/>
              <a:t>(</a:t>
            </a:r>
            <a:r>
              <a:rPr lang="ko-KR" altLang="en-US" dirty="0"/>
              <a:t>외식업</a:t>
            </a:r>
            <a:r>
              <a:rPr lang="en-US" altLang="ko-KR" dirty="0"/>
              <a:t>·</a:t>
            </a:r>
            <a:r>
              <a:rPr lang="ko-KR" altLang="en-US" dirty="0"/>
              <a:t>커피 업종 창업비용 및 점포 현황</a:t>
            </a:r>
            <a:r>
              <a:rPr lang="en-US" altLang="ko-KR" dirty="0"/>
              <a:t>). </a:t>
            </a:r>
            <a:r>
              <a:rPr lang="ko-KR" altLang="en-US" dirty="0"/>
              <a:t>공정거래위원회 가맹사업거래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5.</a:t>
            </a:r>
            <a:r>
              <a:rPr lang="ko-KR" altLang="en-US" b="1" dirty="0"/>
              <a:t>국세청</a:t>
            </a:r>
            <a:r>
              <a:rPr lang="en-US" altLang="ko-KR" b="1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(2023). </a:t>
            </a:r>
            <a:r>
              <a:rPr lang="ko-KR" altLang="en-US" dirty="0"/>
              <a:t>국세통계연보</a:t>
            </a:r>
            <a:r>
              <a:rPr lang="en-US" altLang="ko-KR" dirty="0"/>
              <a:t>: 100</a:t>
            </a:r>
            <a:r>
              <a:rPr lang="ko-KR" altLang="en-US" dirty="0"/>
              <a:t>대 생활밀접업종 사업자 동향</a:t>
            </a:r>
            <a:r>
              <a:rPr lang="en-US" altLang="ko-KR" dirty="0"/>
              <a:t>(</a:t>
            </a:r>
            <a:r>
              <a:rPr lang="ko-KR" altLang="en-US" dirty="0"/>
              <a:t>커피음료점</a:t>
            </a:r>
            <a:r>
              <a:rPr lang="en-US" altLang="ko-KR" dirty="0"/>
              <a:t>). </a:t>
            </a:r>
            <a:r>
              <a:rPr lang="ko-KR" altLang="en-US" dirty="0"/>
              <a:t>국세청 </a:t>
            </a:r>
            <a:r>
              <a:rPr lang="ko-KR" altLang="en-US" dirty="0" err="1"/>
              <a:t>국세통계포털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6. KB</a:t>
            </a:r>
            <a:r>
              <a:rPr lang="ko-KR" altLang="en-US" b="1" dirty="0"/>
              <a:t>금융지주 경영연구소</a:t>
            </a:r>
            <a:r>
              <a:rPr lang="en-US" altLang="ko-KR" b="1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(2019). KB </a:t>
            </a:r>
            <a:r>
              <a:rPr lang="ko-KR" altLang="en-US" dirty="0"/>
              <a:t>자영업 분석 보고서</a:t>
            </a:r>
            <a:r>
              <a:rPr lang="en-US" altLang="ko-KR" dirty="0"/>
              <a:t>: </a:t>
            </a:r>
            <a:r>
              <a:rPr lang="ko-KR" altLang="en-US" dirty="0"/>
              <a:t>국내 커피전문점 시장 현황 및 과제</a:t>
            </a:r>
            <a:r>
              <a:rPr lang="en-US" altLang="ko-KR" dirty="0"/>
              <a:t>. KB</a:t>
            </a:r>
            <a:r>
              <a:rPr lang="ko-KR" altLang="en-US" dirty="0"/>
              <a:t>금융그룹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7. </a:t>
            </a:r>
            <a:r>
              <a:rPr lang="ko-KR" altLang="ko-KR" b="1" dirty="0">
                <a:latin typeface="Arial" panose="020B0604020202020204" pitchFamily="34" charset="0"/>
              </a:rPr>
              <a:t>서울 </a:t>
            </a:r>
            <a:r>
              <a:rPr lang="ko-KR" altLang="ko-KR" b="1" dirty="0" err="1">
                <a:latin typeface="Arial" panose="020B0604020202020204" pitchFamily="34" charset="0"/>
              </a:rPr>
              <a:t>열린데이터광장</a:t>
            </a:r>
            <a:r>
              <a:rPr lang="ko-KR" altLang="ko-KR" dirty="0">
                <a:latin typeface="Arial" panose="020B0604020202020204" pitchFamily="34" charset="0"/>
              </a:rPr>
              <a:t>. (2023). 서울시 </a:t>
            </a:r>
            <a:r>
              <a:rPr lang="ko-KR" altLang="ko-KR" dirty="0" err="1">
                <a:latin typeface="Arial" panose="020B0604020202020204" pitchFamily="34" charset="0"/>
              </a:rPr>
              <a:t>일반·휴게음식점</a:t>
            </a:r>
            <a:r>
              <a:rPr lang="ko-KR" altLang="ko-KR" dirty="0">
                <a:latin typeface="Arial" panose="020B0604020202020204" pitchFamily="34" charset="0"/>
              </a:rPr>
              <a:t> 인허가 정보. 서울특별시.</a:t>
            </a:r>
            <a:endParaRPr lang="en-US" altLang="ko-K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8. </a:t>
            </a:r>
            <a:r>
              <a:rPr lang="ko-KR" altLang="ko-KR" b="1" dirty="0">
                <a:latin typeface="Arial" panose="020B0604020202020204" pitchFamily="34" charset="0"/>
              </a:rPr>
              <a:t>한국부동산원</a:t>
            </a:r>
            <a:r>
              <a:rPr lang="ko-KR" altLang="ko-KR" dirty="0">
                <a:latin typeface="Arial" panose="020B0604020202020204" pitchFamily="34" charset="0"/>
              </a:rPr>
              <a:t>. (2023). </a:t>
            </a:r>
            <a:r>
              <a:rPr lang="ko-KR" altLang="ko-KR" dirty="0" err="1">
                <a:latin typeface="Arial" panose="020B0604020202020204" pitchFamily="34" charset="0"/>
              </a:rPr>
              <a:t>상업용부동산</a:t>
            </a:r>
            <a:r>
              <a:rPr lang="ko-KR" altLang="ko-KR" dirty="0">
                <a:latin typeface="Arial" panose="020B0604020202020204" pitchFamily="34" charset="0"/>
              </a:rPr>
              <a:t> 임대동향조사 (소규모상가). 국토교통부.</a:t>
            </a:r>
          </a:p>
          <a:p>
            <a:endParaRPr lang="en-US" altLang="ko-K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79507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9292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감사합니다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D000"/>
                </a:solidFill>
                <a:latin typeface="윤고딕130" pitchFamily="34" charset="0"/>
                <a:ea typeface="윤고딕130" pitchFamily="34" charset="-122"/>
                <a:cs typeface="윤고딕130" pitchFamily="34" charset="-120"/>
              </a:rPr>
              <a:t>Q &amp; A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44946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07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0DC20B-9D7D-4002-97B7-9228048C8ED5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4908d381-42a3-43dc-964b-e9c1760a967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2926</Words>
  <Application>Microsoft Office PowerPoint</Application>
  <PresentationFormat>와이드스크린</PresentationFormat>
  <Paragraphs>348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Arial Unicode MS</vt:lpstr>
      <vt:lpstr>맑은 고딕</vt:lpstr>
      <vt:lpstr>윤고딕130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Owner</cp:lastModifiedBy>
  <cp:revision>15</cp:revision>
  <dcterms:created xsi:type="dcterms:W3CDTF">2026-08-24T10:48:44Z</dcterms:created>
  <dcterms:modified xsi:type="dcterms:W3CDTF">2026-08-25T06:26:53Z</dcterms:modified>
</cp:coreProperties>
</file>