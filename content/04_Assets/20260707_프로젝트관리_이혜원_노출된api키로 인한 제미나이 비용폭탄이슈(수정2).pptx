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20B0C-128C-2607-20D6-ACED0694F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3A7B32-F267-6B15-67F5-CDF5AB91D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A7086E-081E-14C1-FD66-D6B5C78B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33E14D-B125-B5CC-7FB6-2057486E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D820BB-3F1D-18F9-B948-2B47B869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5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FA46C-DF9F-3EA0-A6C0-4A01D3A8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3186C-CB61-305A-6AAE-20A40071A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A4B8F1-F688-B903-40D2-65F531B1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28F21B-EF09-065B-EC86-6CB9A868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A8414-0124-5477-22F4-9C026034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75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7CC28-CA72-1EE4-16F9-825A3481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22BC17-C7C6-51CD-E03B-AA60DB14A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31A07F-DB04-9267-1025-C041395D6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9CB72-3750-1AE1-9EDE-39A7042A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67BCA3-8FD8-1BB1-1556-2E4512EF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899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DE546-3611-4D69-8F4D-7EC02EE7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554296-2B06-614C-D741-7EC5DE0AD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BC228A-8D71-04ED-2C2A-5C636F9A6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A3F7E7-8080-CC05-67A1-529E8FE8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F2E912-3108-AA74-C159-9301B0B90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11DB2D-6A4A-49CB-E5A3-CD8BC216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45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5E893-CAA8-5E47-675A-39EC1598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8C4E26-1179-FBCC-2233-A8AABC063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43F794-10E4-421C-2E1E-13DF9F793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C43C6D-93C1-8321-2413-C1C50508F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7766C2-2A4B-CDE4-017B-B207D89FC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2BB028-6EAB-74D1-913C-B6041386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446103-E933-C62B-6F1B-2AF638D5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A8ACFE-421D-D169-5F67-BD9B1AA6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18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9D133-48A6-9D0C-9FA7-2D73117E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66A039-1D0E-4821-90A9-219495C5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786F9F-7496-2941-FC31-91514F3B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1EC00D-67C4-26D0-CDC1-A51CAFF1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56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7D397D-EE6C-2747-5D0C-2DCFFE0C2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45706E-030E-B4DF-D31D-883B6789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CCAD1-A3AF-61E8-3E99-A5676AA4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62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A5184-E1D4-120F-F2FE-558D5A94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40CC4D-21C1-DABA-D896-C370E43C5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1954AE-1B00-43CA-86DD-10999A8D2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F7EC88-CE3D-F7E6-95BF-0C5D148E8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1E252-6F26-8293-AF4A-65A18F5B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BFAFAF-FFA0-E6FA-AFA5-0984C54C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60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87D5F-48F4-3987-665A-26F31BF5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7DBAC5-4449-EECA-4A44-2200E3631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4D77DD-FE7D-FB2D-EA9D-DBDBD5CEF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721A14-451A-8652-8EA1-9376BD94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A8641B-509F-CDBB-535F-D399B187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546BA4-1021-91C1-FA1F-EC4842DF6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32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BBFC8-8880-C40C-E8F8-AB1303C9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04589E-20E6-6825-E396-36BEF3F7C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9A2BF9-9C2D-C3AA-05C7-ED5F0A15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34A8EC-232C-0BE2-CF85-289BC5C5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40C9F-7E9B-306E-A082-6ECF505B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54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239796-F4D1-ABA0-FA8D-8EFDA7A34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8905B-9026-D15B-C932-61F94A740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F3910-0BFF-7B8C-DE3E-D356D93D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9D0B0-90C5-4B50-961F-57AA5868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E535C4-B658-FBB1-17BB-A77F1AA2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55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E546A8-D7EF-614B-E834-3C14DC20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6FFA7E-1A30-6541-8560-46A106C3B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67392F-DD18-D381-4146-1F3C62820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53353D-3239-095A-522D-BE34DF79C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409296-C561-65E0-B031-3F0B83CD6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23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ilysecu.com/news/articleView.html?idxno=206736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84FB7-17B4-9272-8E2F-D009D1AA9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8724" y="0"/>
            <a:ext cx="9144000" cy="534838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이슈 </a:t>
            </a:r>
            <a:r>
              <a:rPr lang="en-US" altLang="ko-KR" sz="3200" dirty="0"/>
              <a:t>: </a:t>
            </a:r>
            <a:r>
              <a:rPr lang="en-US" altLang="ko-KR" sz="3200" dirty="0" err="1"/>
              <a:t>api</a:t>
            </a:r>
            <a:r>
              <a:rPr lang="en-US" altLang="ko-KR" sz="3200" dirty="0"/>
              <a:t> </a:t>
            </a:r>
            <a:r>
              <a:rPr lang="ko-KR" altLang="en-US" sz="3200" dirty="0"/>
              <a:t>키 노출로 제미나이 비용 폭탄 발생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B8A414-EB45-5FF2-42AD-D92F694B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5" y="534838"/>
            <a:ext cx="9144000" cy="369332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1900" dirty="0"/>
              <a:t>사건 개요 </a:t>
            </a:r>
            <a:r>
              <a:rPr lang="en-US" altLang="ko-KR" sz="1900" dirty="0"/>
              <a:t>: </a:t>
            </a:r>
            <a:r>
              <a:rPr lang="ko-KR" altLang="en-US" sz="1900" dirty="0"/>
              <a:t>기존 </a:t>
            </a:r>
            <a:r>
              <a:rPr lang="en-US" altLang="ko-KR" sz="1900" dirty="0"/>
              <a:t>API </a:t>
            </a:r>
            <a:r>
              <a:rPr lang="ko-KR" altLang="en-US" sz="1900" dirty="0"/>
              <a:t>키에 제미나이 권한이 자동 활성화되어 무차별 호출당함</a:t>
            </a:r>
            <a:r>
              <a:rPr lang="en-US" altLang="ko-KR" dirty="0"/>
              <a:t>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BB844-AEF3-BD09-82DE-8CA1C83D5C3F}"/>
              </a:ext>
            </a:extLst>
          </p:cNvPr>
          <p:cNvSpPr txBox="1"/>
          <p:nvPr/>
        </p:nvSpPr>
        <p:spPr>
          <a:xfrm>
            <a:off x="1045235" y="6396335"/>
            <a:ext cx="10528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출처 </a:t>
            </a:r>
            <a:r>
              <a:rPr lang="en-US" altLang="ko-KR" sz="1200" dirty="0"/>
              <a:t>:</a:t>
            </a:r>
            <a:r>
              <a:rPr lang="ko-KR" altLang="en-US" sz="1200" dirty="0" err="1"/>
              <a:t>데일리시큐</a:t>
            </a:r>
            <a:r>
              <a:rPr lang="ko-KR" altLang="en-US" sz="1200" dirty="0"/>
              <a:t> </a:t>
            </a:r>
            <a:r>
              <a:rPr lang="en-US" altLang="ko-KR" sz="1200" dirty="0"/>
              <a:t>2026.05.14 </a:t>
            </a:r>
            <a:r>
              <a:rPr lang="ko-KR" altLang="en-US" sz="1200" dirty="0" err="1"/>
              <a:t>길민권</a:t>
            </a:r>
            <a:r>
              <a:rPr lang="ko-KR" altLang="en-US" sz="1200" dirty="0"/>
              <a:t> 기자님 기사 </a:t>
            </a:r>
            <a:r>
              <a:rPr lang="en-US" altLang="ko-KR" sz="1200" dirty="0">
                <a:hlinkClick r:id="rId2"/>
              </a:rPr>
              <a:t>https://www.dailysecu.com/news/articleView.html?idxno=206736</a:t>
            </a:r>
            <a:r>
              <a:rPr lang="en-US" altLang="ko-KR" sz="1200" dirty="0"/>
              <a:t> “</a:t>
            </a:r>
            <a:r>
              <a:rPr lang="ko-KR" altLang="en-US" sz="1200" b="1" dirty="0"/>
              <a:t>노출된 </a:t>
            </a:r>
            <a:r>
              <a:rPr lang="en-US" altLang="ko-KR" sz="1200" b="1" dirty="0"/>
              <a:t>API </a:t>
            </a:r>
            <a:r>
              <a:rPr lang="ko-KR" altLang="en-US" sz="1200" b="1" dirty="0"/>
              <a:t>키가 제미나이 비용 폭탄으로</a:t>
            </a:r>
            <a:r>
              <a:rPr lang="en-US" altLang="ko-KR" sz="1200" b="1" dirty="0"/>
              <a:t>…</a:t>
            </a:r>
            <a:r>
              <a:rPr lang="ko-KR" altLang="en-US" sz="1200" b="1" dirty="0"/>
              <a:t>구글 클라우드 과금 피해 확산</a:t>
            </a:r>
            <a:r>
              <a:rPr lang="en-US" altLang="ko-KR" sz="1200" b="1" dirty="0"/>
              <a:t>”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BFFE0-F317-E829-FA38-DF7FC4A1BF13}"/>
              </a:ext>
            </a:extLst>
          </p:cNvPr>
          <p:cNvSpPr txBox="1"/>
          <p:nvPr/>
        </p:nvSpPr>
        <p:spPr>
          <a:xfrm>
            <a:off x="1159536" y="856995"/>
            <a:ext cx="3971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즉각 대응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ACE62-C2B2-1C45-60CA-0F286B606FED}"/>
              </a:ext>
            </a:extLst>
          </p:cNvPr>
          <p:cNvSpPr txBox="1"/>
          <p:nvPr/>
        </p:nvSpPr>
        <p:spPr>
          <a:xfrm>
            <a:off x="6001111" y="863963"/>
            <a:ext cx="5814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사후 분석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E9C02C18-F749-59DE-8E42-9D1F7548A220}"/>
              </a:ext>
            </a:extLst>
          </p:cNvPr>
          <p:cNvSpPr/>
          <p:nvPr/>
        </p:nvSpPr>
        <p:spPr>
          <a:xfrm>
            <a:off x="5310997" y="2068940"/>
            <a:ext cx="53483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482FF01-71CB-9F89-A38C-797E261AD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102" y="1150002"/>
            <a:ext cx="3735238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해당 API 키 즉시 삭제 또는 비활성화 (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Revocation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구글 클라우드 콘솔(GCP)에서 노출된 키를 즉시 삭제하여 추가 호출을 차단합니다.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관련 결제 계정(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일시 중지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추가적인 인프라 악용 가능성을 차단하기 위해 결제 연동을 일시적으로 분리합니다.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구글 클라우드 서포트 팀 '비용 감면(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Amnesty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)' 요청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사고 인지 즉시 공식 티켓을 오픈하여 해킹/실수 노출임을 소명하고 청구 비용 감면 조율을 진행합니다.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F29DF-0850-2A57-81AA-6F119974BEFE}"/>
              </a:ext>
            </a:extLst>
          </p:cNvPr>
          <p:cNvSpPr txBox="1"/>
          <p:nvPr/>
        </p:nvSpPr>
        <p:spPr>
          <a:xfrm>
            <a:off x="6001111" y="1150002"/>
            <a:ext cx="44167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</a:t>
            </a:r>
            <a:r>
              <a:rPr lang="ko-KR" altLang="en-US" sz="1400" b="1" dirty="0"/>
              <a:t>사후 분석</a:t>
            </a:r>
            <a:r>
              <a:rPr lang="en-US" altLang="ko-KR" sz="1400" b="1" dirty="0"/>
              <a:t>] </a:t>
            </a:r>
            <a:r>
              <a:rPr lang="ko-KR" altLang="en-US" sz="1400" b="1" dirty="0"/>
              <a:t>유출 경로 및 피해 규모 파악 </a:t>
            </a:r>
            <a:r>
              <a:rPr lang="en-US" altLang="ko-KR" sz="1400" b="1" dirty="0"/>
              <a:t>(Analysis)</a:t>
            </a:r>
          </a:p>
          <a:p>
            <a:r>
              <a:rPr lang="en-US" altLang="ko-KR" sz="1400" b="1" dirty="0"/>
              <a:t>API </a:t>
            </a:r>
            <a:r>
              <a:rPr lang="ko-KR" altLang="en-US" sz="1400" b="1" dirty="0"/>
              <a:t>호출 로그 및 인보이스 분석</a:t>
            </a:r>
            <a:endParaRPr lang="ko-KR" altLang="en-US" sz="1400" dirty="0"/>
          </a:p>
          <a:p>
            <a:pPr lvl="1"/>
            <a:r>
              <a:rPr lang="ko-KR" altLang="en-US" sz="1400" dirty="0"/>
              <a:t>어떤 </a:t>
            </a:r>
            <a:r>
              <a:rPr lang="en-US" altLang="ko-KR" sz="1400" dirty="0"/>
              <a:t>IP</a:t>
            </a:r>
            <a:r>
              <a:rPr lang="ko-KR" altLang="en-US" sz="1400" dirty="0"/>
              <a:t>와 리전에서 제미나이 </a:t>
            </a:r>
            <a:r>
              <a:rPr lang="en-US" altLang="ko-KR" sz="1400" dirty="0"/>
              <a:t>API(</a:t>
            </a:r>
            <a:r>
              <a:rPr lang="ko-KR" altLang="en-US" sz="1400" dirty="0"/>
              <a:t>예</a:t>
            </a:r>
            <a:r>
              <a:rPr lang="en-US" altLang="ko-KR" sz="1400" dirty="0"/>
              <a:t>: Gemini Pro/Flash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를 무차별 호출했는지</a:t>
            </a:r>
            <a:r>
              <a:rPr lang="en-US" altLang="ko-KR" sz="1400" dirty="0"/>
              <a:t>, </a:t>
            </a:r>
            <a:r>
              <a:rPr lang="ko-KR" altLang="en-US" sz="1400" dirty="0"/>
              <a:t>정확한 누적 피해 금액을 파악합니다</a:t>
            </a:r>
            <a:r>
              <a:rPr lang="en-US" altLang="ko-KR" sz="1400" dirty="0"/>
              <a:t>.</a:t>
            </a:r>
          </a:p>
          <a:p>
            <a:r>
              <a:rPr lang="ko-KR" altLang="en-US" sz="1400" b="1" dirty="0"/>
              <a:t>유출 소스 </a:t>
            </a:r>
            <a:r>
              <a:rPr lang="ko-KR" altLang="en-US" sz="1400" b="1" dirty="0" err="1"/>
              <a:t>트래킹</a:t>
            </a:r>
            <a:endParaRPr lang="ko-KR" altLang="en-US" sz="1400" dirty="0"/>
          </a:p>
          <a:p>
            <a:pPr lvl="1"/>
            <a:r>
              <a:rPr lang="en-US" altLang="ko-KR" sz="1400" dirty="0"/>
              <a:t>GitHub </a:t>
            </a:r>
            <a:r>
              <a:rPr lang="ko-KR" altLang="en-US" sz="1400" dirty="0"/>
              <a:t>퍼블릭 </a:t>
            </a:r>
            <a:r>
              <a:rPr lang="ko-KR" altLang="en-US" sz="1400" dirty="0" err="1"/>
              <a:t>리포지토리</a:t>
            </a:r>
            <a:r>
              <a:rPr lang="en-US" altLang="ko-KR" sz="1400" dirty="0"/>
              <a:t>, </a:t>
            </a:r>
            <a:r>
              <a:rPr lang="ko-KR" altLang="en-US" sz="1400" dirty="0"/>
              <a:t>클라이언트 사이드 코드</a:t>
            </a:r>
            <a:r>
              <a:rPr lang="en-US" altLang="ko-KR" sz="1400" dirty="0"/>
              <a:t>(</a:t>
            </a:r>
            <a:r>
              <a:rPr lang="ko-KR" altLang="en-US" sz="1400" dirty="0"/>
              <a:t>하드코딩</a:t>
            </a:r>
            <a:r>
              <a:rPr lang="en-US" altLang="ko-KR" sz="1400" dirty="0"/>
              <a:t>), </a:t>
            </a:r>
            <a:r>
              <a:rPr lang="ko-KR" altLang="en-US" sz="1400" dirty="0"/>
              <a:t>혹은 빌드 </a:t>
            </a:r>
            <a:r>
              <a:rPr lang="ko-KR" altLang="en-US" sz="1400" dirty="0" err="1"/>
              <a:t>아티팩트</a:t>
            </a:r>
            <a:r>
              <a:rPr lang="ko-KR" altLang="en-US" sz="1400" dirty="0"/>
              <a:t> 등 정확한 키 유출 경로를 추적하여 차단합니다</a:t>
            </a:r>
            <a:r>
              <a:rPr lang="en-US" altLang="ko-KR" sz="1400" dirty="0"/>
              <a:t>.</a:t>
            </a:r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86656-72B5-E5CD-D022-EA4AFB049B73}"/>
              </a:ext>
            </a:extLst>
          </p:cNvPr>
          <p:cNvSpPr txBox="1"/>
          <p:nvPr/>
        </p:nvSpPr>
        <p:spPr>
          <a:xfrm>
            <a:off x="3852774" y="3416407"/>
            <a:ext cx="342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비용방어책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DBD3F-649F-9B2E-1D86-1208E685ECED}"/>
              </a:ext>
            </a:extLst>
          </p:cNvPr>
          <p:cNvSpPr txBox="1"/>
          <p:nvPr/>
        </p:nvSpPr>
        <p:spPr>
          <a:xfrm>
            <a:off x="1045235" y="3769731"/>
            <a:ext cx="433189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3. [</a:t>
            </a:r>
            <a:r>
              <a:rPr lang="ko-KR" altLang="en-US" sz="1100" b="1" dirty="0"/>
              <a:t>비용 방어책</a:t>
            </a:r>
            <a:r>
              <a:rPr lang="en-US" altLang="ko-KR" sz="1100" b="1" dirty="0"/>
              <a:t>] </a:t>
            </a:r>
            <a:r>
              <a:rPr lang="ko-KR" altLang="en-US" sz="1100" b="1" dirty="0"/>
              <a:t>구글 클라우드 기반 과금 가드레일 구축 </a:t>
            </a:r>
            <a:r>
              <a:rPr lang="en-US" altLang="ko-KR" sz="1100" b="1" dirty="0"/>
              <a:t>(Financial Guardrails)</a:t>
            </a:r>
          </a:p>
          <a:p>
            <a:r>
              <a:rPr lang="ko-KR" altLang="en-US" sz="1100" b="1" dirty="0"/>
              <a:t>제미나이 </a:t>
            </a:r>
            <a:r>
              <a:rPr lang="en-US" altLang="ko-KR" sz="1100" b="1" dirty="0"/>
              <a:t>API </a:t>
            </a:r>
            <a:r>
              <a:rPr lang="ko-KR" altLang="en-US" sz="1100" b="1" dirty="0"/>
              <a:t>선불 결제</a:t>
            </a:r>
            <a:r>
              <a:rPr lang="en-US" altLang="ko-KR" sz="1100" b="1" dirty="0"/>
              <a:t>(Prepaid Billing) </a:t>
            </a:r>
            <a:r>
              <a:rPr lang="ko-KR" altLang="en-US" sz="1100" b="1" dirty="0"/>
              <a:t>도입</a:t>
            </a:r>
            <a:endParaRPr lang="ko-KR" altLang="en-US" sz="1100" dirty="0"/>
          </a:p>
          <a:p>
            <a:pPr lvl="1"/>
            <a:r>
              <a:rPr lang="ko-KR" altLang="en-US" sz="1100" dirty="0"/>
              <a:t>사후 종량제</a:t>
            </a:r>
            <a:r>
              <a:rPr lang="en-US" altLang="ko-KR" sz="1100" dirty="0"/>
              <a:t>(Postpaid) </a:t>
            </a:r>
            <a:r>
              <a:rPr lang="ko-KR" altLang="en-US" sz="1100" dirty="0"/>
              <a:t>대신 </a:t>
            </a:r>
            <a:r>
              <a:rPr lang="ko-KR" altLang="en-US" sz="1100" b="1" dirty="0"/>
              <a:t>미리 </a:t>
            </a:r>
            <a:r>
              <a:rPr lang="ko-KR" altLang="en-US" sz="1100" b="1" dirty="0" err="1"/>
              <a:t>크레딧을</a:t>
            </a:r>
            <a:r>
              <a:rPr lang="ko-KR" altLang="en-US" sz="1100" b="1" dirty="0"/>
              <a:t> 구매하여 사용하는 선불 방식</a:t>
            </a:r>
            <a:r>
              <a:rPr lang="ko-KR" altLang="en-US" sz="1100" dirty="0"/>
              <a:t>으로 전환하여</a:t>
            </a:r>
            <a:r>
              <a:rPr lang="en-US" altLang="ko-KR" sz="1100" dirty="0"/>
              <a:t>, </a:t>
            </a:r>
            <a:r>
              <a:rPr lang="ko-KR" altLang="en-US" sz="1100" dirty="0"/>
              <a:t>해킹을 당하더라도 충전된 금액 이상으로 비용이 폭탄 청구되는 리스크를 원천 차단합니다</a:t>
            </a:r>
            <a:r>
              <a:rPr lang="en-US" altLang="ko-KR" sz="1100" dirty="0"/>
              <a:t>.</a:t>
            </a:r>
          </a:p>
          <a:p>
            <a:r>
              <a:rPr lang="ko-KR" altLang="en-US" sz="1100" b="1" dirty="0"/>
              <a:t>프로젝트</a:t>
            </a:r>
            <a:r>
              <a:rPr lang="en-US" altLang="ko-KR" sz="1100" b="1" dirty="0"/>
              <a:t>/</a:t>
            </a:r>
            <a:r>
              <a:rPr lang="ko-KR" altLang="en-US" sz="1100" b="1" dirty="0"/>
              <a:t>결제 계정별 하드 한도</a:t>
            </a:r>
            <a:r>
              <a:rPr lang="en-US" altLang="ko-KR" sz="1100" b="1" dirty="0"/>
              <a:t>(Hard Budget Limit) </a:t>
            </a:r>
            <a:r>
              <a:rPr lang="ko-KR" altLang="en-US" sz="1100" b="1" dirty="0"/>
              <a:t>설정</a:t>
            </a:r>
            <a:endParaRPr lang="ko-KR" altLang="en-US" sz="1100" dirty="0"/>
          </a:p>
          <a:p>
            <a:pPr lvl="1"/>
            <a:r>
              <a:rPr lang="ko-KR" altLang="en-US" sz="1100" dirty="0"/>
              <a:t>비용이 설정한 임계치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</a:t>
            </a:r>
            <a:r>
              <a:rPr lang="ko-KR" altLang="en-US" sz="1100" dirty="0"/>
              <a:t>월 </a:t>
            </a:r>
            <a:r>
              <a:rPr lang="en-US" altLang="ko-KR" sz="1100" dirty="0"/>
              <a:t>250</a:t>
            </a:r>
            <a:r>
              <a:rPr lang="ko-KR" altLang="en-US" sz="1100" dirty="0"/>
              <a:t>달러 또는 사내 기준 예산</a:t>
            </a:r>
            <a:r>
              <a:rPr lang="en-US" altLang="ko-KR" sz="1100" dirty="0"/>
              <a:t>)</a:t>
            </a:r>
            <a:r>
              <a:rPr lang="ko-KR" altLang="en-US" sz="1100" dirty="0"/>
              <a:t>에 도달하면 즉시 </a:t>
            </a:r>
            <a:r>
              <a:rPr lang="en-US" altLang="ko-KR" sz="1100" dirty="0"/>
              <a:t>API </a:t>
            </a:r>
            <a:r>
              <a:rPr lang="ko-KR" altLang="en-US" sz="1100" dirty="0"/>
              <a:t>호출이 자동 차단</a:t>
            </a:r>
            <a:r>
              <a:rPr lang="en-US" altLang="ko-KR" sz="1100" dirty="0"/>
              <a:t>(Denial of Service)</a:t>
            </a:r>
            <a:r>
              <a:rPr lang="ko-KR" altLang="en-US" sz="1100" dirty="0"/>
              <a:t>되도록 설정합니다</a:t>
            </a:r>
            <a:r>
              <a:rPr lang="en-US" altLang="ko-KR" sz="1100" dirty="0"/>
              <a:t>.</a:t>
            </a:r>
          </a:p>
          <a:p>
            <a:r>
              <a:rPr lang="ko-KR" altLang="en-US" sz="1100" b="1" dirty="0"/>
              <a:t>실시간 예산 알림</a:t>
            </a:r>
            <a:r>
              <a:rPr lang="en-US" altLang="ko-KR" sz="1100" b="1" dirty="0"/>
              <a:t>(Billing Alerts) </a:t>
            </a:r>
            <a:r>
              <a:rPr lang="ko-KR" altLang="en-US" sz="1100" b="1" dirty="0"/>
              <a:t>연동</a:t>
            </a:r>
            <a:endParaRPr lang="ko-KR" altLang="en-US" sz="1100" dirty="0"/>
          </a:p>
          <a:p>
            <a:pPr lvl="1"/>
            <a:r>
              <a:rPr lang="ko-KR" altLang="en-US" sz="1100" dirty="0"/>
              <a:t>예산의 </a:t>
            </a:r>
            <a:r>
              <a:rPr lang="en-US" altLang="ko-KR" sz="1100" dirty="0"/>
              <a:t>50%, 80%, 100% </a:t>
            </a:r>
            <a:r>
              <a:rPr lang="ko-KR" altLang="en-US" sz="1100" dirty="0"/>
              <a:t>도달 시 담당 팀의 </a:t>
            </a:r>
            <a:r>
              <a:rPr lang="ko-KR" altLang="en-US" sz="1100" dirty="0" err="1"/>
              <a:t>슬랙</a:t>
            </a:r>
            <a:r>
              <a:rPr lang="en-US" altLang="ko-KR" sz="1100" dirty="0"/>
              <a:t>(Slack) </a:t>
            </a:r>
            <a:r>
              <a:rPr lang="ko-KR" altLang="en-US" sz="1100" dirty="0"/>
              <a:t>및 이메일로 즉각 경고가 발송되도록 자동화합니다</a:t>
            </a:r>
            <a:r>
              <a:rPr lang="en-US" altLang="ko-KR" sz="11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38F343-98A8-3E02-B50D-789B47DBC0E2}"/>
              </a:ext>
            </a:extLst>
          </p:cNvPr>
          <p:cNvSpPr txBox="1"/>
          <p:nvPr/>
        </p:nvSpPr>
        <p:spPr>
          <a:xfrm>
            <a:off x="6396437" y="4171304"/>
            <a:ext cx="4416724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4. [</a:t>
            </a:r>
            <a:r>
              <a:rPr lang="ko-KR" altLang="en-US" sz="1100" b="1" dirty="0"/>
              <a:t>보안 고도화</a:t>
            </a:r>
            <a:r>
              <a:rPr lang="en-US" altLang="ko-KR" sz="1100" b="1" dirty="0"/>
              <a:t>] API </a:t>
            </a:r>
            <a:r>
              <a:rPr lang="ko-KR" altLang="en-US" sz="1100" b="1" dirty="0"/>
              <a:t>권한 및 자격 증명 최소화 </a:t>
            </a:r>
            <a:r>
              <a:rPr lang="en-US" altLang="ko-KR" sz="1100" b="1" dirty="0"/>
              <a:t>(Governance)</a:t>
            </a:r>
          </a:p>
          <a:p>
            <a:r>
              <a:rPr lang="en-US" altLang="ko-KR" sz="1100" b="1" dirty="0"/>
              <a:t>API </a:t>
            </a:r>
            <a:r>
              <a:rPr lang="ko-KR" altLang="en-US" sz="1100" b="1" dirty="0"/>
              <a:t>키 사용 범위</a:t>
            </a:r>
            <a:r>
              <a:rPr lang="en-US" altLang="ko-KR" sz="1100" b="1" dirty="0"/>
              <a:t>(API Restrictions) </a:t>
            </a:r>
            <a:r>
              <a:rPr lang="ko-KR" altLang="en-US" sz="1100" b="1" dirty="0"/>
              <a:t>철저 제한</a:t>
            </a:r>
            <a:endParaRPr lang="ko-KR" altLang="en-US" sz="1100" dirty="0"/>
          </a:p>
          <a:p>
            <a:pPr lvl="1"/>
            <a:r>
              <a:rPr lang="ko-KR" altLang="en-US" sz="1100" dirty="0"/>
              <a:t>키 생성 시 모든 </a:t>
            </a:r>
            <a:r>
              <a:rPr lang="en-US" altLang="ko-KR" sz="1100" dirty="0"/>
              <a:t>API</a:t>
            </a:r>
            <a:r>
              <a:rPr lang="ko-KR" altLang="en-US" sz="1100" dirty="0"/>
              <a:t>를 호출할 수 있게 두지 말고</a:t>
            </a:r>
            <a:r>
              <a:rPr lang="en-US" altLang="ko-KR" sz="1100" dirty="0"/>
              <a:t>, </a:t>
            </a:r>
            <a:r>
              <a:rPr lang="ko-KR" altLang="en-US" sz="1100" b="1" dirty="0"/>
              <a:t>해당 프로젝트에 필요한 특정 </a:t>
            </a:r>
            <a:r>
              <a:rPr lang="en-US" altLang="ko-KR" sz="1100" b="1" dirty="0"/>
              <a:t>API</a:t>
            </a:r>
            <a:r>
              <a:rPr lang="ko-KR" altLang="en-US" sz="1100" b="1" dirty="0"/>
              <a:t>만 호출할 수 있도록 범위를 엄격하게 제한</a:t>
            </a:r>
            <a:r>
              <a:rPr lang="ko-KR" altLang="en-US" sz="1100" dirty="0"/>
              <a:t>합니다</a:t>
            </a:r>
            <a:r>
              <a:rPr lang="en-US" altLang="ko-KR" sz="1100" dirty="0"/>
              <a:t>. (※ </a:t>
            </a:r>
            <a:r>
              <a:rPr lang="ko-KR" altLang="en-US" sz="1100" dirty="0"/>
              <a:t>이번 사건처럼 기존 키에 제미나이 권한이 자동으로 부여되어 악용되는 것을 방지</a:t>
            </a:r>
            <a:r>
              <a:rPr lang="en-US" altLang="ko-KR" sz="1100" dirty="0"/>
              <a:t>)</a:t>
            </a:r>
          </a:p>
          <a:p>
            <a:r>
              <a:rPr lang="ko-KR" altLang="en-US" sz="1100" b="1" dirty="0"/>
              <a:t>접근 리스트</a:t>
            </a:r>
            <a:r>
              <a:rPr lang="en-US" altLang="ko-KR" sz="1100" b="1" dirty="0"/>
              <a:t>(Application Restrictions) </a:t>
            </a:r>
            <a:r>
              <a:rPr lang="ko-KR" altLang="en-US" sz="1100" b="1" dirty="0"/>
              <a:t>제한</a:t>
            </a:r>
            <a:endParaRPr lang="ko-KR" altLang="en-US" sz="1100" dirty="0"/>
          </a:p>
          <a:p>
            <a:pPr lvl="1"/>
            <a:r>
              <a:rPr lang="ko-KR" altLang="en-US" sz="1100" dirty="0"/>
              <a:t>웹사이트</a:t>
            </a:r>
            <a:r>
              <a:rPr lang="en-US" altLang="ko-KR" sz="1100" dirty="0"/>
              <a:t>(HTTP </a:t>
            </a:r>
            <a:r>
              <a:rPr lang="ko-KR" altLang="en-US" sz="1100" dirty="0" err="1"/>
              <a:t>리퍼러</a:t>
            </a:r>
            <a:r>
              <a:rPr lang="en-US" altLang="ko-KR" sz="1100" dirty="0"/>
              <a:t>), </a:t>
            </a:r>
            <a:r>
              <a:rPr lang="ko-KR" altLang="en-US" sz="1100" dirty="0"/>
              <a:t>특정 서버 </a:t>
            </a:r>
            <a:r>
              <a:rPr lang="en-US" altLang="ko-KR" sz="1100" dirty="0"/>
              <a:t>IP </a:t>
            </a:r>
            <a:r>
              <a:rPr lang="ko-KR" altLang="en-US" sz="1100" dirty="0"/>
              <a:t>대역에서만 해당 </a:t>
            </a:r>
            <a:r>
              <a:rPr lang="en-US" altLang="ko-KR" sz="1100" dirty="0"/>
              <a:t>API </a:t>
            </a:r>
            <a:r>
              <a:rPr lang="ko-KR" altLang="en-US" sz="1100" dirty="0"/>
              <a:t>키를 인식하도록 제한을 걸어 둡니다</a:t>
            </a:r>
            <a:r>
              <a:rPr lang="en-US" altLang="ko-KR" sz="1100" dirty="0"/>
              <a:t>.</a:t>
            </a:r>
          </a:p>
          <a:p>
            <a:r>
              <a:rPr lang="ko-KR" altLang="en-US" sz="1100" b="1" dirty="0"/>
              <a:t>시크릿 관리자</a:t>
            </a:r>
            <a:r>
              <a:rPr lang="en-US" altLang="ko-KR" sz="1100" b="1" dirty="0"/>
              <a:t>(Secrets Manager) </a:t>
            </a:r>
            <a:r>
              <a:rPr lang="ko-KR" altLang="en-US" sz="1100" b="1" dirty="0"/>
              <a:t>활용</a:t>
            </a:r>
            <a:endParaRPr lang="ko-KR" altLang="en-US" sz="1100" dirty="0"/>
          </a:p>
          <a:p>
            <a:pPr lvl="1"/>
            <a:r>
              <a:rPr lang="ko-KR" altLang="en-US" sz="1100" dirty="0"/>
              <a:t>소스 코드 내에 </a:t>
            </a:r>
            <a:r>
              <a:rPr lang="en-US" altLang="ko-KR" sz="1100" dirty="0"/>
              <a:t>API </a:t>
            </a:r>
            <a:r>
              <a:rPr lang="ko-KR" altLang="en-US" sz="1100" dirty="0"/>
              <a:t>키를 절대 </a:t>
            </a:r>
            <a:r>
              <a:rPr lang="ko-KR" altLang="en-US" sz="1100" dirty="0" err="1"/>
              <a:t>하드코딩하지</a:t>
            </a:r>
            <a:r>
              <a:rPr lang="ko-KR" altLang="en-US" sz="1100" dirty="0"/>
              <a:t> 않고</a:t>
            </a:r>
            <a:r>
              <a:rPr lang="en-US" altLang="ko-KR" sz="1100" dirty="0"/>
              <a:t>, AWS Secrets Manager</a:t>
            </a:r>
            <a:r>
              <a:rPr lang="ko-KR" altLang="en-US" sz="1100" dirty="0"/>
              <a:t>나 </a:t>
            </a:r>
            <a:r>
              <a:rPr lang="en-US" altLang="ko-KR" sz="1100" dirty="0"/>
              <a:t>GCP Secret Manager</a:t>
            </a:r>
            <a:r>
              <a:rPr lang="ko-KR" altLang="en-US" sz="1100" dirty="0"/>
              <a:t>를 통해 환경 변수로 동적 </a:t>
            </a:r>
            <a:r>
              <a:rPr lang="ko-KR" altLang="en-US" sz="1100" dirty="0" err="1"/>
              <a:t>로드합니다</a:t>
            </a:r>
            <a:r>
              <a:rPr lang="en-US" altLang="ko-KR" sz="1100" dirty="0"/>
              <a:t>.</a:t>
            </a:r>
          </a:p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16889C-5C79-772D-7CD6-BA62116CB65C}"/>
              </a:ext>
            </a:extLst>
          </p:cNvPr>
          <p:cNvSpPr txBox="1"/>
          <p:nvPr/>
        </p:nvSpPr>
        <p:spPr>
          <a:xfrm>
            <a:off x="5845835" y="3685210"/>
            <a:ext cx="536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&amp; </a:t>
            </a:r>
            <a:r>
              <a:rPr lang="ko-KR" altLang="en-US" dirty="0"/>
              <a:t>권한 관리</a:t>
            </a:r>
            <a:r>
              <a:rPr lang="en-US" altLang="ko-KR" dirty="0"/>
              <a:t>:</a:t>
            </a:r>
            <a:r>
              <a:rPr lang="ko-KR" altLang="en-US" dirty="0"/>
              <a:t>계정 관리를 거버넌스 수준에서 관리</a:t>
            </a:r>
          </a:p>
        </p:txBody>
      </p:sp>
    </p:spTree>
    <p:extLst>
      <p:ext uri="{BB962C8B-B14F-4D97-AF65-F5344CB8AC3E}">
        <p14:creationId xmlns:p14="http://schemas.microsoft.com/office/powerpoint/2010/main" val="397523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459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이슈 : api 키 노출로 제미나이 비용 폭탄 발생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Hyewon Lee</dc:creator>
  <cp:lastModifiedBy>Hyewon Lee</cp:lastModifiedBy>
  <cp:revision>2</cp:revision>
  <dcterms:created xsi:type="dcterms:W3CDTF">2026-07-07T08:49:06Z</dcterms:created>
  <dcterms:modified xsi:type="dcterms:W3CDTF">2026-07-07T09:00:53Z</dcterms:modified>
</cp:coreProperties>
</file>